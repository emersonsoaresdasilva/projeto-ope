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8" roundtripDataSignature="AMtx7mhWVCtoZ3ZvAihFUGQ3wVEzaUcP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5528464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5528464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6" name="Google Shape;216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8" name="Google Shape;238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6" name="Google Shape;246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552846479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c552846479_0_0"/>
          <p:cNvSpPr txBox="1"/>
          <p:nvPr>
            <p:ph idx="1" type="body"/>
          </p:nvPr>
        </p:nvSpPr>
        <p:spPr>
          <a:xfrm>
            <a:off x="7327675" y="1690825"/>
            <a:ext cx="4334100" cy="38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Verifica se o produto de venda está disponível.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não estiver disponível, o pedido é recusado.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Solicita os dados de cadastro do cliente.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as informações do cliente não existirem, então elas são guardadas em Cliente, caso contrário atualiza as informações se necessário.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Informa valor do pedido e taxa de entrega.</a:t>
            </a:r>
            <a:endParaRPr sz="2000"/>
          </a:p>
        </p:txBody>
      </p:sp>
      <p:pic>
        <p:nvPicPr>
          <p:cNvPr id="90" name="Google Shape;90;gc5528464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3_0"/>
          <p:cNvSpPr txBox="1"/>
          <p:nvPr>
            <p:ph idx="1" type="body"/>
          </p:nvPr>
        </p:nvSpPr>
        <p:spPr>
          <a:xfrm>
            <a:off x="7327675" y="1690825"/>
            <a:ext cx="4334100" cy="29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cartão e senha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pedido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status do pedido do cliente em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96" name="Google Shape;96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97" name="Google Shape;97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c98e0c4ace_0_7"/>
          <p:cNvSpPr txBox="1"/>
          <p:nvPr>
            <p:ph idx="1" type="body"/>
          </p:nvPr>
        </p:nvSpPr>
        <p:spPr>
          <a:xfrm>
            <a:off x="7327675" y="1690825"/>
            <a:ext cx="45300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a resposta da transação do pedido em status do pedido.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ao cliente a transação foi recusada.</a:t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do cliente para “pagamento confirmado”.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03" name="Google Shape;103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4" name="Google Shape;104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2a4ffa960_0_32"/>
          <p:cNvSpPr txBox="1"/>
          <p:nvPr>
            <p:ph idx="1" type="body"/>
          </p:nvPr>
        </p:nvSpPr>
        <p:spPr>
          <a:xfrm>
            <a:off x="7327675" y="1690825"/>
            <a:ext cx="4334100" cy="3138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Vendedor solicita envio do produto a 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produto para 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/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status do pedido para “enviado”.</a:t>
            </a:r>
            <a:endParaRPr/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constar pedido como “pagamento confirmado”, o produto não será enviado.</a:t>
            </a:r>
            <a:endParaRPr/>
          </a:p>
          <a:p>
            <a:pPr indent="0" lvl="0" marL="1016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pt-BR" sz="2000">
                <a:highlight>
                  <a:schemeClr val="lt1"/>
                </a:highlight>
              </a:rPr>
              <a:t>	</a:t>
            </a:r>
            <a:endParaRPr/>
          </a:p>
          <a:p>
            <a:pPr indent="0" lvl="0" marL="1016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0" name="Google Shape;110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d2a4ffa960_0_38"/>
          <p:cNvSpPr txBox="1"/>
          <p:nvPr>
            <p:ph idx="1" type="body"/>
          </p:nvPr>
        </p:nvSpPr>
        <p:spPr>
          <a:xfrm>
            <a:off x="7327675" y="1690825"/>
            <a:ext cx="43341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Recebe o código de rastreio da empresa de correspondências e guarda em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código de rastreio do pedido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para “a caminho”.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8" name="Google Shape;118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6d86abc89_0_1"/>
          <p:cNvSpPr txBox="1"/>
          <p:nvPr>
            <p:ph idx="1" type="body"/>
          </p:nvPr>
        </p:nvSpPr>
        <p:spPr>
          <a:xfrm>
            <a:off x="7327675" y="1690825"/>
            <a:ext cx="4334100" cy="39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Finalizar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Empresa de correspondências informa status da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Finalizar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status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status recebido da empresa de correspondências não for “entregue”, o status do pedido não é atualizado.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O status do pedido é atualizado para “entregue”.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Capacidade: </a:t>
            </a:r>
            <a:r>
              <a:rPr b="1" lang="pt-BR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Atender Solicitação de Suporte</a:t>
            </a:r>
            <a:r>
              <a:rPr b="1" lang="pt-BR">
                <a:highlight>
                  <a:srgbClr val="FF0000"/>
                </a:highlight>
              </a:rPr>
              <a:t> 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131" name="Google Shape;131;gc56d62285f_0_0"/>
          <p:cNvSpPr txBox="1"/>
          <p:nvPr>
            <p:ph idx="1" type="body"/>
          </p:nvPr>
        </p:nvSpPr>
        <p:spPr>
          <a:xfrm>
            <a:off x="7346650" y="1690825"/>
            <a:ext cx="4334100" cy="47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faz solicitação de suporte.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solicitações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Ao receber a solicitação de suporte, o atendente verifica o problema descrito e </a:t>
            </a:r>
            <a:r>
              <a:rPr lang="pt-BR" sz="2000">
                <a:highlight>
                  <a:schemeClr val="lt1"/>
                </a:highlight>
              </a:rPr>
              <a:t>armazena a solicitação em chamado.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produto possuir mais do que noventa dias após o recebimento, o atendente informa a recusa do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2" name="Google Shape;132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300" y="1690825"/>
            <a:ext cx="4914900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8" name="Google Shape;138;gc925418432_0_12"/>
          <p:cNvSpPr txBox="1"/>
          <p:nvPr>
            <p:ph idx="1" type="body"/>
          </p:nvPr>
        </p:nvSpPr>
        <p:spPr>
          <a:xfrm>
            <a:off x="7346650" y="1690825"/>
            <a:ext cx="4433700" cy="4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Analisar 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informa prazo, testes e orçamento.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</a:t>
            </a:r>
            <a:r>
              <a:rPr lang="pt-BR" sz="2000">
                <a:highlight>
                  <a:schemeClr val="lt1"/>
                </a:highlight>
              </a:rPr>
              <a:t>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problema descrito no chamado.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Se o defeito foi causado por mau uso</a:t>
            </a:r>
            <a:r>
              <a:rPr lang="pt-BR" sz="2000">
                <a:highlight>
                  <a:schemeClr val="lt1"/>
                </a:highlight>
              </a:rPr>
              <a:t> ou o cliente comprou um equipamento que não atende o seu uso e reportar como um defeito, a solicitação será recusada e o status do chamado encerrado.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Auxilia o cliente a realizar os testes diagnósticos e atualiza o chamado de acordo com o resultado dos testes.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prazo ao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orçamento.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9" name="Google Shape;139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300" y="1690825"/>
            <a:ext cx="4914900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45" name="Google Shape;145;gce01f6a808_0_0"/>
          <p:cNvSpPr txBox="1"/>
          <p:nvPr>
            <p:ph idx="1" type="body"/>
          </p:nvPr>
        </p:nvSpPr>
        <p:spPr>
          <a:xfrm>
            <a:off x="7346925" y="1690825"/>
            <a:ext cx="4334100" cy="36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Realizar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confirmação da manutenção e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Realizar a manutenção no produto.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Técnico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</a:t>
            </a:r>
            <a:r>
              <a:rPr lang="pt-BR" sz="2000">
                <a:highlight>
                  <a:schemeClr val="lt1"/>
                </a:highlight>
              </a:rPr>
              <a:t>o produto do cliente em produto de manutenção.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Inicia a manutenção e guarda o status da manutenção “iniciada”.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46" name="Google Shape;146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925418432_0_18"/>
          <p:cNvSpPr txBox="1"/>
          <p:nvPr>
            <p:ph idx="1" type="body"/>
          </p:nvPr>
        </p:nvSpPr>
        <p:spPr>
          <a:xfrm>
            <a:off x="7346650" y="1686300"/>
            <a:ext cx="4334100" cy="4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Informar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informa status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ao cliente o status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22860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Ao receber a solicitação de status do cliente, verifica o chamado e informa o status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53" name="Google Shape;153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>
                <a:highlight>
                  <a:schemeClr val="lt1"/>
                </a:highlight>
              </a:rPr>
              <a:t>Capacidade: </a:t>
            </a:r>
            <a:r>
              <a:rPr b="1" lang="pt-BR">
                <a:highlight>
                  <a:schemeClr val="lt1"/>
                </a:highlight>
              </a:rPr>
              <a:t>Realizar Manutenção</a:t>
            </a:r>
            <a:r>
              <a:rPr b="1" lang="pt-BR">
                <a:highlight>
                  <a:schemeClr val="lt1"/>
                </a:highlight>
              </a:rPr>
              <a:t>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d2b4982aba_0_41"/>
          <p:cNvSpPr txBox="1"/>
          <p:nvPr>
            <p:ph idx="1" type="body"/>
          </p:nvPr>
        </p:nvSpPr>
        <p:spPr>
          <a:xfrm>
            <a:off x="7346650" y="1686300"/>
            <a:ext cx="43341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devolve o produto consertado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Devolver o produto consertado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se a manutenção foi finalizada.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a manutenção não foi “encerrada”, o produto não é devolvido. 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</a:t>
            </a:r>
            <a:r>
              <a:rPr lang="pt-BR" sz="2000">
                <a:highlight>
                  <a:schemeClr val="lt1"/>
                </a:highlight>
              </a:rPr>
              <a:t> o produto em produto manutenção e devolve ao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chamado para “encerrado”.</a:t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0" name="Google Shape;160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775" y="1690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67" name="Google Shape;167;gc63a4fde34_0_5"/>
          <p:cNvSpPr txBox="1"/>
          <p:nvPr/>
        </p:nvSpPr>
        <p:spPr>
          <a:xfrm>
            <a:off x="8039100" y="1373100"/>
            <a:ext cx="3771300" cy="54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Cliente faz solicitação de devolução e devolve produto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pedido do client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 e guarda o produto em produto de devolução e guarda a solicitação em chamado de devolução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pedido não existir ou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produto possuir mais de sete dias de uso, o atendente informa ao cliente que a solicitação foi recusada.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o número do chamado ao cliente.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75" name="Google Shape;175;gcce74347ab_0_4"/>
          <p:cNvSpPr txBox="1"/>
          <p:nvPr/>
        </p:nvSpPr>
        <p:spPr>
          <a:xfrm>
            <a:off x="8039100" y="1690825"/>
            <a:ext cx="3485100" cy="37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Atendente envia status do chamado e recibo para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status do chamado e recibo de devolução ao cliente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ao cliente o status do chamado de devolução e o recibo de devolução para assinatura.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3" name="Google Shape;183;gcce74347ab_0_10"/>
          <p:cNvSpPr txBox="1"/>
          <p:nvPr/>
        </p:nvSpPr>
        <p:spPr>
          <a:xfrm>
            <a:off x="8039100" y="1690825"/>
            <a:ext cx="3900900" cy="47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Finalizar Devolução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Cliente envia recibo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do produto ao cliente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recibo de devolução recebido do cliente e guarda em chamado de devolução.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recibo não estiver assinado, a devolução é recusada.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total do produto de devolu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ção e devolve valor do produto ao cliente.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de devolução para “encerrado”.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190" name="Google Shape;190;gc56d62285f_0_6"/>
          <p:cNvSpPr txBox="1"/>
          <p:nvPr/>
        </p:nvSpPr>
        <p:spPr>
          <a:xfrm>
            <a:off x="7205050" y="1690825"/>
            <a:ext cx="4258200" cy="338551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faz solicitação de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aquisição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4"/>
                  </a:ext>
                </a:extLst>
              </a:rPr>
              <a:t>Envolvidos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os fornecedores cadastrados.</a:t>
            </a:r>
            <a:endParaRPr/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fornecedores cadastrados, a solicitação não será realizada.</a:t>
            </a:r>
            <a:endParaRPr/>
          </a:p>
          <a:p>
            <a:pPr indent="-228600" lvl="0" marL="4572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97" name="Google Shape;197;gc63a4fde34_0_30"/>
          <p:cNvSpPr txBox="1"/>
          <p:nvPr/>
        </p:nvSpPr>
        <p:spPr>
          <a:xfrm>
            <a:off x="7205050" y="1690825"/>
            <a:ext cx="4114800" cy="3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orçamento dos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 envia orçamento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 enviado e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5"/>
                  </a:ext>
                </a:extLst>
              </a:rPr>
              <a:t>Envolvidos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saldo em lançamento disponível para compra dos produtos e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confirmação ao fornecedor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há saldo suficiente para compra de produtos, o orçamento, será recusado.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d2b4982aba_0_66"/>
          <p:cNvSpPr txBox="1"/>
          <p:nvPr>
            <p:ph idx="1" type="body"/>
          </p:nvPr>
        </p:nvSpPr>
        <p:spPr>
          <a:xfrm>
            <a:off x="7205050" y="1767025"/>
            <a:ext cx="4624500" cy="25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Pagar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Gerente realiza pagamento dos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 ao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 do lançamento o valor necessário para pagamento dos produtos.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04" name="Google Shape;204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05" name="Google Shape;205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2b4982aba_0_85"/>
          <p:cNvSpPr txBox="1"/>
          <p:nvPr>
            <p:ph idx="1" type="body"/>
          </p:nvPr>
        </p:nvSpPr>
        <p:spPr>
          <a:xfrm>
            <a:off x="7205050" y="1767025"/>
            <a:ext cx="43341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Fornecedor envia comprovante de pagamento, nota fiscal e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Receber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comprovante de pagamento e nota fiscal em via de operação.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os produtos novos adquiridos em produto de venda.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1" name="Google Shape;211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2" name="Google Shape;212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4272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19" name="Google Shape;219;gcce74347ab_0_29"/>
          <p:cNvSpPr txBox="1"/>
          <p:nvPr/>
        </p:nvSpPr>
        <p:spPr>
          <a:xfrm>
            <a:off x="8643575" y="1062300"/>
            <a:ext cx="3500400" cy="400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solicita serviço de manutenção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/>
          </a:p>
          <a:p>
            <a:pPr indent="-218440" lvl="0" marL="228600" marR="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fornecedores para realizar a manutenção.</a:t>
            </a:r>
            <a:endParaRPr/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fornecedores cadastrados, a solicitação não será realizada.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d2b4982aba_0_115"/>
          <p:cNvSpPr txBox="1"/>
          <p:nvPr>
            <p:ph idx="1" type="body"/>
          </p:nvPr>
        </p:nvSpPr>
        <p:spPr>
          <a:xfrm>
            <a:off x="8396925" y="1711525"/>
            <a:ext cx="3663300" cy="46981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orçamento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orçamento e prazo da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se há saldo em lançamento disponível para terceirizar a manutenção.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há saldo suficiente para manutenção de produtos, o orçamento será recusado.</a:t>
            </a:r>
            <a:endParaRPr sz="2000">
              <a:highlight>
                <a:schemeClr val="lt1"/>
              </a:highlight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as informações da manutenção solicitada em manutenção.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26" name="Google Shape;226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27" name="Google Shape;227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2b4982aba_0_109"/>
          <p:cNvSpPr txBox="1"/>
          <p:nvPr>
            <p:ph idx="1" type="body"/>
          </p:nvPr>
        </p:nvSpPr>
        <p:spPr>
          <a:xfrm>
            <a:off x="8643575" y="1711525"/>
            <a:ext cx="3335100" cy="3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produto manutenido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o produto recebido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produto em produto de manutenção.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da manutenção para “finalizado”.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33" name="Google Shape;233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34" name="Google Shape;234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41" name="Google Shape;241;gcce74347ab_0_17"/>
          <p:cNvSpPr txBox="1"/>
          <p:nvPr/>
        </p:nvSpPr>
        <p:spPr>
          <a:xfrm>
            <a:off x="8643575" y="1711525"/>
            <a:ext cx="3497100" cy="48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pagamento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realiza pagamento da manutenção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o pagamento da manutenção ao terceiro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final da manutenção realizada pelo terceiro.</a:t>
            </a:r>
            <a:endParaRPr/>
          </a:p>
          <a:p>
            <a:pPr indent="-355600" lvl="1" marL="91440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○"/>
            </a:pPr>
            <a:r>
              <a:rPr b="0" i="0" lang="pt-BR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Se não houver manutenção solicitada, o pagamento não é realizado.</a:t>
            </a:r>
            <a:endParaRPr/>
          </a:p>
          <a:p>
            <a:pPr indent="-228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necessário para pagamento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e r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ealiza pagamento.</a:t>
            </a:r>
            <a:endParaRPr b="0" i="0" sz="2000" u="none" cap="none" strike="noStrike">
              <a:solidFill>
                <a:srgbClr val="000000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49" name="Google Shape;249;gc63a4fde34_0_36"/>
          <p:cNvSpPr txBox="1"/>
          <p:nvPr/>
        </p:nvSpPr>
        <p:spPr>
          <a:xfrm>
            <a:off x="8643575" y="1682825"/>
            <a:ext cx="33474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ocesso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comprovante de pagamento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 envia comprovante de pagamento e nota fiscal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 Receber comprovante de pagamento e nota fiscal dos produtos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pt-BR" sz="2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 o comprovante de pagamento e nota fiscal do terceiro e guarda em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manutenção.</a:t>
            </a:r>
            <a:endParaRPr b="1" i="0" sz="20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