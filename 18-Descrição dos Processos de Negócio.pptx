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http://customooxmlschemas.google.com/">
      <go:slidesCustomData xmlns:go="http://customooxmlschemas.google.com/" r:id="rId28" roundtripDataSignature="AMtx7mgm+iJ/lGiAL6tu+T5m1C+/JTYgQ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customschemas.google.com/relationships/presentationmetadata" Target="metadata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c552846479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gc552846479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c98e0c4ace_3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3" name="Google Shape;93;gc98e0c4ace_3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c98e0c4ace_0_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0" name="Google Shape;100;gc98e0c4ace_0_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d2a4ffa960_0_3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7" name="Google Shape;107;gd2a4ffa960_0_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d2a4ffa960_0_3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4" name="Google Shape;114;gd2a4ffa960_0_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d6d86abc89_0_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1" name="Google Shape;121;gd6d86abc89_0_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c56d62285f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8" name="Google Shape;128;gc56d62285f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c925418432_0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5" name="Google Shape;135;gc925418432_0_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ce01f6a808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2" name="Google Shape;142;gce01f6a808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c925418432_0_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9" name="Google Shape;149;gc925418432_0_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d2b4982aba_0_4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6" name="Google Shape;156;gd2b4982aba_0_4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c63a4fde34_0_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c63a4fde34_0_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gc63a4fde34_0_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cce74347ab_0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cce74347ab_0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gcce74347ab_0_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cce74347ab_0_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cce74347ab_0_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gcce74347ab_0_1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c56d62285f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7" name="Google Shape;187;gc56d62285f_0_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c63a4fde34_0_3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4" name="Google Shape;194;gc63a4fde34_0_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d2b4982aba_0_6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1" name="Google Shape;201;gd2b4982aba_0_6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d2b4982aba_0_8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8" name="Google Shape;208;gd2b4982aba_0_8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cce74347ab_0_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cce74347ab_0_2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gcce74347ab_0_2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d2b4982aba_0_1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3" name="Google Shape;223;gd2b4982aba_0_1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d2b4982aba_0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0" name="Google Shape;230;gd2b4982aba_0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cce74347ab_0_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cce74347ab_0_1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gcce74347ab_0_1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c63a4fde34_0_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c63a4fde34_0_3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gc63a4fde34_0_3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4" name="Google Shape;24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c552846479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rgbClr val="FF0000"/>
              </a:highlight>
            </a:endParaRPr>
          </a:p>
        </p:txBody>
      </p:sp>
      <p:sp>
        <p:nvSpPr>
          <p:cNvPr id="89" name="Google Shape;89;gc552846479_0_0"/>
          <p:cNvSpPr txBox="1"/>
          <p:nvPr>
            <p:ph idx="1" type="body"/>
          </p:nvPr>
        </p:nvSpPr>
        <p:spPr>
          <a:xfrm>
            <a:off x="7327675" y="1690825"/>
            <a:ext cx="4334100" cy="38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Receber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/>
              <a:t>Cliente faz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Verificar o pedido do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●"/>
            </a:pPr>
            <a:r>
              <a:rPr lang="pt-BR" sz="2000"/>
              <a:t>Verifica</a:t>
            </a:r>
            <a:r>
              <a:rPr lang="pt-BR" sz="2000"/>
              <a:t> se o produto está disponível.</a:t>
            </a:r>
            <a:endParaRPr sz="2000"/>
          </a:p>
          <a:p>
            <a:pPr indent="-355600" lvl="1" marL="9144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pt-BR" sz="2000"/>
              <a:t>Se não estiver disponível, o pedido é recusado.</a:t>
            </a:r>
            <a:endParaRPr sz="2000"/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pt-BR" sz="2000"/>
              <a:t>Solicita os dados de cadastro do cliente.</a:t>
            </a:r>
            <a:endParaRPr sz="2000"/>
          </a:p>
          <a:p>
            <a:pPr indent="-355600" lvl="1" marL="9144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pt-BR" sz="2000"/>
              <a:t>Se as informações do cliente não existirem, então elas são guardadas em Cliente, caso contrário atualiza as informações se necessário.</a:t>
            </a:r>
            <a:endParaRPr sz="2000"/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pt-BR" sz="2000"/>
              <a:t>Informa valor do pedido e taxa de entrega.</a:t>
            </a:r>
            <a:endParaRPr sz="2000"/>
          </a:p>
        </p:txBody>
      </p:sp>
      <p:pic>
        <p:nvPicPr>
          <p:cNvPr id="90" name="Google Shape;90;gc55284647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c98e0c4ace_3_0"/>
          <p:cNvSpPr txBox="1"/>
          <p:nvPr>
            <p:ph idx="1" type="body"/>
          </p:nvPr>
        </p:nvSpPr>
        <p:spPr>
          <a:xfrm>
            <a:off x="7327675" y="1690825"/>
            <a:ext cx="4334100" cy="298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</a:t>
            </a:r>
            <a:r>
              <a:rPr b="1" lang="pt-BR" sz="2000">
                <a:highlight>
                  <a:schemeClr val="lt1"/>
                </a:highlight>
              </a:rPr>
              <a:t>o</a:t>
            </a:r>
            <a:r>
              <a:rPr lang="pt-BR" sz="2000">
                <a:highlight>
                  <a:schemeClr val="lt1"/>
                </a:highlight>
              </a:rPr>
              <a:t>: Receber cartão + senha 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/>
              <a:t>Cliente informa cartão e senha</a:t>
            </a:r>
            <a:endParaRPr sz="2000"/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Tratar o processo de pagamento do pedido</a:t>
            </a:r>
            <a:endParaRPr sz="2000"/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  <a:extLst>
                  <a:ext uri="http://customooxmlschemas.google.com/">
                    <go:slidesCustomData xmlns:go="http://customooxmlschemas.google.com/" textRoundtripDataId="0"/>
                  </a:ext>
                </a:extLst>
              </a:rPr>
              <a:t>Vendedor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os dados cartão informados para pagamento</a:t>
            </a:r>
            <a:r>
              <a:rPr lang="pt-BR" sz="2000">
                <a:highlight>
                  <a:schemeClr val="lt1"/>
                </a:highlight>
              </a:rPr>
              <a:t>.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o status do pedido do cliente em pedido.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96" name="Google Shape;96;gc98e0c4ace_3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 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97" name="Google Shape;97;gc98e0c4ace_3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c98e0c4ace_0_7"/>
          <p:cNvSpPr txBox="1"/>
          <p:nvPr>
            <p:ph idx="1" type="body"/>
          </p:nvPr>
        </p:nvSpPr>
        <p:spPr>
          <a:xfrm>
            <a:off x="7327675" y="1690825"/>
            <a:ext cx="4530000" cy="43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Analisar Resposta da Transação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Provedor de cartões envia resposta da transação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Informar ao cliente se a transação será aprovada ou recusada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a resposta da transação do pedido.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não houver limite suficiente, informa ao cliente que o valor foi recusado.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o status do pedido do cliente para</a:t>
            </a:r>
            <a:r>
              <a:rPr lang="pt-BR" sz="2000">
                <a:highlight>
                  <a:schemeClr val="lt1"/>
                </a:highlight>
              </a:rPr>
              <a:t> “pagamento confirmado”.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03" name="Google Shape;103;gc98e0c4ace_0_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rgbClr val="FF0000"/>
              </a:highlight>
            </a:endParaRPr>
          </a:p>
        </p:txBody>
      </p:sp>
      <p:pic>
        <p:nvPicPr>
          <p:cNvPr id="104" name="Google Shape;104;gc98e0c4ace_0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d2a4ffa960_0_32"/>
          <p:cNvSpPr txBox="1"/>
          <p:nvPr>
            <p:ph idx="1" type="body"/>
          </p:nvPr>
        </p:nvSpPr>
        <p:spPr>
          <a:xfrm>
            <a:off x="7327675" y="1690825"/>
            <a:ext cx="4334100" cy="38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/>
              <a:t>P</a:t>
            </a:r>
            <a:r>
              <a:rPr b="1" lang="pt-BR" sz="2000">
                <a:highlight>
                  <a:schemeClr val="lt1"/>
                </a:highlight>
              </a:rPr>
              <a:t>rocesso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Enviar pedido para postagem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Vendedor solicita envio do produto a empresa de correspondências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Enviar o p</a:t>
            </a:r>
            <a:r>
              <a:rPr lang="pt-BR" sz="2000">
                <a:highlight>
                  <a:schemeClr val="lt1"/>
                </a:highlight>
              </a:rPr>
              <a:t>roduto</a:t>
            </a:r>
            <a:r>
              <a:rPr lang="pt-BR" sz="2000">
                <a:highlight>
                  <a:schemeClr val="lt1"/>
                </a:highlight>
              </a:rPr>
              <a:t> para  postagem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Vendedor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o pedido do cliente.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não constar pedido como “pagamento confirmado”, o produto não será enviado.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status do pedido para “enviado”.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10" name="Google Shape;110;gd2a4ffa960_0_32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111" name="Google Shape;111;gd2a4ffa960_0_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d2a4ffa960_0_38"/>
          <p:cNvSpPr txBox="1"/>
          <p:nvPr>
            <p:ph idx="1" type="body"/>
          </p:nvPr>
        </p:nvSpPr>
        <p:spPr>
          <a:xfrm>
            <a:off x="7327675" y="1690825"/>
            <a:ext cx="4334100" cy="35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Enviar código de rastreio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Empresa de correspondências informa código de rastreio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Rastrear o pedido do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o código de rastreio recebido da empresa de </a:t>
            </a:r>
            <a:r>
              <a:rPr lang="pt-BR" sz="2000">
                <a:highlight>
                  <a:schemeClr val="lt1"/>
                </a:highlight>
              </a:rPr>
              <a:t>correspondências e guarda em pedido.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</a:t>
            </a:r>
            <a:r>
              <a:rPr lang="pt-BR" sz="2000">
                <a:highlight>
                  <a:schemeClr val="lt1"/>
                </a:highlight>
              </a:rPr>
              <a:t>nforma o código de rastreio do pedido ao cliente.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o status do pedido para “enviado”.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17" name="Google Shape;117;gd2a4ffa960_0_3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118" name="Google Shape;118;gd2a4ffa960_0_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d6d86abc89_0_1"/>
          <p:cNvSpPr txBox="1"/>
          <p:nvPr>
            <p:ph idx="1" type="body"/>
          </p:nvPr>
        </p:nvSpPr>
        <p:spPr>
          <a:xfrm>
            <a:off x="7327675" y="1690825"/>
            <a:ext cx="4334100" cy="39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Finalizar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Empresa de correspondências informa status da entrega do pedido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Finalizar o pedido do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Vendedor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status da entrega do pedido do cliente.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o status recebido da empresa de correspondências não for “entregue”, o status do pedido não é atualizado.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O status do pedido é atualizado para “entregue”.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124" name="Google Shape;124;gd6d86abc89_0_1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125" name="Google Shape;125;gd6d86abc89_0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22876" cy="4096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c56d62285f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31" name="Google Shape;131;gc56d62285f_0_0"/>
          <p:cNvSpPr txBox="1"/>
          <p:nvPr>
            <p:ph idx="1" type="body"/>
          </p:nvPr>
        </p:nvSpPr>
        <p:spPr>
          <a:xfrm>
            <a:off x="7346650" y="1690825"/>
            <a:ext cx="4334100" cy="4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Receber solicitação de suporte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Cliente faz solicitação de suporte e informa o número do chamado.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Analisar solicitações de suporte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e </a:t>
            </a:r>
            <a:r>
              <a:rPr lang="pt-BR" sz="2000">
                <a:highlight>
                  <a:schemeClr val="lt1"/>
                </a:highlight>
              </a:rPr>
              <a:t>guarda</a:t>
            </a:r>
            <a:r>
              <a:rPr lang="pt-BR" sz="2000">
                <a:highlight>
                  <a:schemeClr val="lt1"/>
                </a:highlight>
              </a:rPr>
              <a:t> o chamado do cliente em chamado.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Informa o número do chamado ao cliente.</a:t>
            </a:r>
            <a:endParaRPr sz="2000"/>
          </a:p>
        </p:txBody>
      </p:sp>
      <p:pic>
        <p:nvPicPr>
          <p:cNvPr id="132" name="Google Shape;132;gc56d62285f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41851" cy="29585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c925418432_0_12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38" name="Google Shape;138;gc925418432_0_12"/>
          <p:cNvSpPr txBox="1"/>
          <p:nvPr>
            <p:ph idx="1" type="body"/>
          </p:nvPr>
        </p:nvSpPr>
        <p:spPr>
          <a:xfrm>
            <a:off x="7346650" y="1690825"/>
            <a:ext cx="4433700" cy="33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Analisar  o problema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Cliente envia resposta do chamado e produto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Tratar o chamado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o chamado e produto do cliente.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bri"/>
              <a:buChar char="○"/>
            </a:pPr>
            <a:r>
              <a:rPr lang="pt-BR" sz="2000">
                <a:highlight>
                  <a:schemeClr val="lt1"/>
                </a:highlight>
                <a:extLst>
                  <a:ext uri="http://customooxmlschemas.google.com/">
                    <go:slidesCustomData xmlns:go="http://customooxmlschemas.google.com/" textRoundtripDataId="1"/>
                  </a:ext>
                </a:extLst>
              </a:rPr>
              <a:t>Se o defeito foi causado por mau uso</a:t>
            </a:r>
            <a:r>
              <a:rPr lang="pt-BR" sz="2000">
                <a:highlight>
                  <a:schemeClr val="lt1"/>
                </a:highlight>
              </a:rPr>
              <a:t> ou </a:t>
            </a:r>
            <a:r>
              <a:rPr lang="pt-BR" sz="2000">
                <a:highlight>
                  <a:schemeClr val="lt1"/>
                </a:highlight>
              </a:rPr>
              <a:t>o cliente comprou um equipamento que não atende o seu uso e reportar como um defeito</a:t>
            </a:r>
            <a:r>
              <a:rPr lang="pt-BR" sz="2000">
                <a:highlight>
                  <a:schemeClr val="lt1"/>
                </a:highlight>
              </a:rPr>
              <a:t>, </a:t>
            </a:r>
            <a:r>
              <a:rPr lang="pt-BR" sz="2000">
                <a:highlight>
                  <a:schemeClr val="lt1"/>
                </a:highlight>
              </a:rPr>
              <a:t>a solicitação será recusada.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Informa o prazo ao </a:t>
            </a:r>
            <a:r>
              <a:rPr lang="pt-BR" sz="2000">
                <a:highlight>
                  <a:schemeClr val="lt1"/>
                </a:highlight>
              </a:rPr>
              <a:t>cliente.</a:t>
            </a:r>
            <a:endParaRPr sz="2000">
              <a:highlight>
                <a:schemeClr val="lt1"/>
              </a:highlight>
            </a:endParaRPr>
          </a:p>
        </p:txBody>
      </p:sp>
      <p:pic>
        <p:nvPicPr>
          <p:cNvPr id="139" name="Google Shape;139;gc925418432_0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41851" cy="29585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ce01f6a808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 </a:t>
            </a:r>
            <a:endParaRPr>
              <a:highlight>
                <a:srgbClr val="FF9900"/>
              </a:highlight>
            </a:endParaRPr>
          </a:p>
        </p:txBody>
      </p:sp>
      <p:sp>
        <p:nvSpPr>
          <p:cNvPr id="145" name="Google Shape;145;gce01f6a808_0_0"/>
          <p:cNvSpPr txBox="1"/>
          <p:nvPr>
            <p:ph idx="1" type="body"/>
          </p:nvPr>
        </p:nvSpPr>
        <p:spPr>
          <a:xfrm>
            <a:off x="7346925" y="1690825"/>
            <a:ext cx="4334100" cy="274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Realizar Manutenção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/>
              <a:t>Atendente informa prazo de solução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Informar o cliente sobre o prazo de solução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o produto do cliente em produto.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a manutenção do cliente em manutenção.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400">
              <a:highlight>
                <a:schemeClr val="lt1"/>
              </a:highlight>
            </a:endParaRPr>
          </a:p>
        </p:txBody>
      </p:sp>
      <p:pic>
        <p:nvPicPr>
          <p:cNvPr id="146" name="Google Shape;146;gce01f6a808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41851" cy="29585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c925418432_0_1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52" name="Google Shape;152;gc925418432_0_18"/>
          <p:cNvSpPr txBox="1"/>
          <p:nvPr>
            <p:ph idx="1" type="body"/>
          </p:nvPr>
        </p:nvSpPr>
        <p:spPr>
          <a:xfrm>
            <a:off x="7346650" y="1686300"/>
            <a:ext cx="4334100" cy="35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Atualizar status do chamado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Cliente faz solicitação do status do chamado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 </a:t>
            </a:r>
            <a:r>
              <a:rPr lang="pt-BR" sz="2000">
                <a:highlight>
                  <a:schemeClr val="lt1"/>
                </a:highlight>
              </a:rPr>
              <a:t>Informar o cliente sobre o status do chamado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o andamento da manutenção.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</a:t>
            </a:r>
            <a:r>
              <a:rPr lang="pt-BR" sz="2000">
                <a:highlight>
                  <a:schemeClr val="lt1"/>
                </a:highlight>
              </a:rPr>
              <a:t>tualiza o status do chamado.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Informa o status de chamado ao cliente.</a:t>
            </a:r>
            <a:endParaRPr sz="2000">
              <a:highlight>
                <a:schemeClr val="lt1"/>
              </a:highlight>
            </a:endParaRPr>
          </a:p>
          <a:p>
            <a:pPr indent="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</p:txBody>
      </p:sp>
      <p:pic>
        <p:nvPicPr>
          <p:cNvPr id="153" name="Google Shape;153;gc925418432_0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41851" cy="29585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d2b4982aba_0_41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 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59" name="Google Shape;159;gd2b4982aba_0_41"/>
          <p:cNvSpPr txBox="1"/>
          <p:nvPr>
            <p:ph idx="1" type="body"/>
          </p:nvPr>
        </p:nvSpPr>
        <p:spPr>
          <a:xfrm>
            <a:off x="7346650" y="1686300"/>
            <a:ext cx="4334100" cy="274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Devolver o produto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Atendente devolve o produto consertado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Devolução do produto consertado ao cliente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Atendente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o status do chamado para “encerrado”.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Devolve o produto consertado ao cliente.</a:t>
            </a:r>
            <a:endParaRPr sz="1400">
              <a:highlight>
                <a:schemeClr val="lt1"/>
              </a:highlight>
            </a:endParaRPr>
          </a:p>
        </p:txBody>
      </p:sp>
      <p:pic>
        <p:nvPicPr>
          <p:cNvPr id="160" name="Google Shape;160;gd2b4982aba_0_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041851" cy="29585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c63a4fde34_0_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</a:t>
            </a:r>
            <a:r>
              <a:rPr lang="pt-BR"/>
              <a:t> </a:t>
            </a:r>
            <a:r>
              <a:rPr b="1" lang="pt-BR"/>
              <a:t>Tratar Devoluções 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167" name="Google Shape;167;gc63a4fde34_0_5"/>
          <p:cNvSpPr txBox="1"/>
          <p:nvPr/>
        </p:nvSpPr>
        <p:spPr>
          <a:xfrm>
            <a:off x="8039100" y="1690825"/>
            <a:ext cx="3771300" cy="44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Receber solicitação de devolução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Cliente faz solicitação de devolução e devolve produto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Analisar a solicitação de devolução recebida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Atendente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 produto enviado e o pedido do cliente.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1" marL="9144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Se o produto possuir mais de sete dias de uso, o atendente informa ao cliente que a solicitação foi recusada.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Informa o número do chamado ao cliente.</a:t>
            </a:r>
            <a:endParaRPr sz="2000">
              <a:highlight>
                <a:schemeClr val="lt1"/>
              </a:highlight>
            </a:endParaRPr>
          </a:p>
        </p:txBody>
      </p:sp>
      <p:pic>
        <p:nvPicPr>
          <p:cNvPr id="168" name="Google Shape;168;gc63a4fde34_0_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734301" cy="36093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cce74347ab_0_4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Tratar Devoluções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175" name="Google Shape;175;gcce74347ab_0_4"/>
          <p:cNvSpPr txBox="1"/>
          <p:nvPr/>
        </p:nvSpPr>
        <p:spPr>
          <a:xfrm>
            <a:off x="8039100" y="1690825"/>
            <a:ext cx="3485100" cy="388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Devolver valor do produto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Cliente faz solicitação de status de chamado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Enviar status do chamado e recibo de devolução ao cliente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Atendente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 chamado do cliente.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Informa ao cliente o status do chamado e o recibo de devolução para assinatura.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6" name="Google Shape;176;gcce74347ab_0_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734301" cy="36093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cce74347ab_0_1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Tratar Devoluções 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183" name="Google Shape;183;gcce74347ab_0_10"/>
          <p:cNvSpPr txBox="1"/>
          <p:nvPr/>
        </p:nvSpPr>
        <p:spPr>
          <a:xfrm>
            <a:off x="8039100" y="1690825"/>
            <a:ext cx="3900900" cy="43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Finalizar Devolução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Cliente envia recibo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Restituir o valor do produto ao cliente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311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 recibo de devolução recebido do cliente.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1" marL="9144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Se o recibo não estiver assinado, a devolução é recusada.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311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 valor do produto.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311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Retira do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 lançamento o valor de devolução ao cliente.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311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Atualiza o status do chamado para “encerrado”.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4" name="Google Shape;184;gcce74347ab_0_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7734301" cy="36093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c56d62285f_0_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 </a:t>
            </a:r>
            <a:endParaRPr sz="3100">
              <a:highlight>
                <a:schemeClr val="lt1"/>
              </a:highlight>
            </a:endParaRPr>
          </a:p>
        </p:txBody>
      </p:sp>
      <p:sp>
        <p:nvSpPr>
          <p:cNvPr id="190" name="Google Shape;190;gc56d62285f_0_6"/>
          <p:cNvSpPr txBox="1"/>
          <p:nvPr/>
        </p:nvSpPr>
        <p:spPr>
          <a:xfrm>
            <a:off x="7205050" y="1690825"/>
            <a:ext cx="4258200" cy="24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Solicitar produtos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Gerente faz solicitação de produtos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Adquirir novas mercadorias para aquisição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Trabalhadores </a:t>
            </a: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  <a:extLst>
                  <a:ext uri="http://customooxmlschemas.google.com/">
                    <go:slidesCustomData xmlns:go="http://customooxmlschemas.google.com/" textRoundtripDataId="2"/>
                  </a:ext>
                </a:extLst>
              </a:rPr>
              <a:t>Envolvidos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os fornecedores cadastrados.</a:t>
            </a:r>
            <a:endParaRPr sz="2000">
              <a:highlight>
                <a:schemeClr val="lt1"/>
              </a:highlight>
            </a:endParaRPr>
          </a:p>
        </p:txBody>
      </p:sp>
      <p:pic>
        <p:nvPicPr>
          <p:cNvPr id="191" name="Google Shape;191;gc56d62285f_0_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6900250" cy="36521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c63a4fde34_0_3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</a:t>
            </a:r>
            <a:endParaRPr>
              <a:highlight>
                <a:schemeClr val="lt1"/>
              </a:highlight>
            </a:endParaRPr>
          </a:p>
        </p:txBody>
      </p:sp>
      <p:sp>
        <p:nvSpPr>
          <p:cNvPr id="197" name="Google Shape;197;gc63a4fde34_0_30"/>
          <p:cNvSpPr txBox="1"/>
          <p:nvPr/>
        </p:nvSpPr>
        <p:spPr>
          <a:xfrm>
            <a:off x="7205050" y="1690825"/>
            <a:ext cx="4114800" cy="3268200"/>
          </a:xfrm>
          <a:prstGeom prst="rect">
            <a:avLst/>
          </a:prstGeom>
          <a:noFill/>
          <a:ln cap="flat" cmpd="sng" w="9525">
            <a:solidFill>
              <a:srgbClr val="F1C2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Analisar orçamento dos produtos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Fornecedor envia orçamento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Analisar orçamento do pedido enviado e produtos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Trabalhadores </a:t>
            </a: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  <a:extLst>
                  <a:ext uri="http://customooxmlschemas.google.com/">
                    <go:slidesCustomData xmlns:go="http://customooxmlschemas.google.com/" textRoundtripDataId="3"/>
                  </a:ext>
                </a:extLst>
              </a:rPr>
              <a:t>Envolvidos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●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se há saldo em lançamento disponível para compra dos produtos.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1" marL="9144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Se não há saldo suficiente para compra de produtos, o orçamento, será recusado.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8" name="Google Shape;198;gc63a4fde34_0_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6900250" cy="36521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d2b4982aba_0_66"/>
          <p:cNvSpPr txBox="1"/>
          <p:nvPr>
            <p:ph idx="1" type="body"/>
          </p:nvPr>
        </p:nvSpPr>
        <p:spPr>
          <a:xfrm>
            <a:off x="7205050" y="1767025"/>
            <a:ext cx="4624500" cy="258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Pagar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Gerente realiza pagamento dos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Pagar as mercadorias adquiridas ao fornecedor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Gerente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Retira do lançamento o valor necessário para pagamento dos produtos.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204" name="Google Shape;204;gd2b4982aba_0_6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05" name="Google Shape;205;gd2b4982aba_0_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6900250" cy="36521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d2b4982aba_0_85"/>
          <p:cNvSpPr txBox="1"/>
          <p:nvPr>
            <p:ph idx="1" type="body"/>
          </p:nvPr>
        </p:nvSpPr>
        <p:spPr>
          <a:xfrm>
            <a:off x="7205050" y="1767025"/>
            <a:ext cx="4334100" cy="353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/>
              <a:t>Pr</a:t>
            </a:r>
            <a:r>
              <a:rPr b="1" lang="pt-BR" sz="2000">
                <a:highlight>
                  <a:schemeClr val="lt1"/>
                </a:highlight>
              </a:rPr>
              <a:t>ocesso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Receber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Fornecedor envia comprovante de pagamento, nota fiscal e os produtos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Receber os produtos adquiridos do fornecedor.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Gerente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Recebe o comprovante de pagamento, nota fiscal e os produtos adquiridos do fornecedor.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o comprovante de pagamento e nota fiscal em via de operação.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Guarda os produtos novos adquiridos em produto.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211" name="Google Shape;211;gd2b4982aba_0_8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 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12" name="Google Shape;212;gd2b4982aba_0_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6900250" cy="36521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cce74347ab_0_29"/>
          <p:cNvSpPr txBox="1"/>
          <p:nvPr>
            <p:ph type="title"/>
          </p:nvPr>
        </p:nvSpPr>
        <p:spPr>
          <a:xfrm>
            <a:off x="838200" y="365125"/>
            <a:ext cx="107742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>
              <a:highlight>
                <a:schemeClr val="lt1"/>
              </a:highlight>
            </a:endParaRPr>
          </a:p>
        </p:txBody>
      </p:sp>
      <p:sp>
        <p:nvSpPr>
          <p:cNvPr id="219" name="Google Shape;219;gcce74347ab_0_29"/>
          <p:cNvSpPr txBox="1"/>
          <p:nvPr/>
        </p:nvSpPr>
        <p:spPr>
          <a:xfrm>
            <a:off x="8643575" y="1062300"/>
            <a:ext cx="3500400" cy="302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Processo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Solicitar serviço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Gerente envia produto e solicita serviço de manutenção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Terceirizar o suporte que não pode ser atendido pela GamaWare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2184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se há fornecedores para realizar a manutenção.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" name="Google Shape;220;gcce74347ab_0_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8338775" cy="3963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d2b4982aba_0_115"/>
          <p:cNvSpPr txBox="1"/>
          <p:nvPr>
            <p:ph idx="1" type="body"/>
          </p:nvPr>
        </p:nvSpPr>
        <p:spPr>
          <a:xfrm>
            <a:off x="8396925" y="1711525"/>
            <a:ext cx="3663300" cy="50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Analisar orçamento da manutenção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</a:t>
            </a:r>
            <a:r>
              <a:rPr lang="pt-BR" sz="2000">
                <a:highlight>
                  <a:schemeClr val="lt1"/>
                </a:highlight>
              </a:rPr>
              <a:t>Terceiro envia orçamento e prazo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Verificar orçamento e prazo da manutenção.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Gerente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</a:t>
            </a:r>
            <a:r>
              <a:rPr lang="pt-BR" sz="2000">
                <a:highlight>
                  <a:schemeClr val="lt1"/>
                </a:highlight>
              </a:rPr>
              <a:t> se há saldo em lançamento disponível para terceirizar a manutenção.</a:t>
            </a:r>
            <a:endParaRPr sz="2000">
              <a:highlight>
                <a:schemeClr val="lt1"/>
              </a:highlight>
            </a:endParaRPr>
          </a:p>
          <a:p>
            <a:pPr indent="-355600" lvl="1" marL="91440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pt-BR" sz="2000">
                <a:highlight>
                  <a:schemeClr val="lt1"/>
                </a:highlight>
              </a:rPr>
              <a:t>Se não há saldo suficiente para manutenção de produtos, o orçamento será recusado.</a:t>
            </a:r>
            <a:endParaRPr sz="2000">
              <a:highlight>
                <a:schemeClr val="lt1"/>
              </a:highlight>
            </a:endParaRPr>
          </a:p>
          <a:p>
            <a:pPr indent="-2184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Calibri"/>
              <a:buChar char="•"/>
            </a:pPr>
            <a:r>
              <a:rPr lang="pt-BR" sz="2000">
                <a:highlight>
                  <a:schemeClr val="lt1"/>
                </a:highlight>
              </a:rPr>
              <a:t>Guarda as informações da manutenção solicitada em manutenção.</a:t>
            </a:r>
            <a:endParaRPr sz="2000">
              <a:highlight>
                <a:schemeClr val="lt1"/>
              </a:highlight>
            </a:endParaRPr>
          </a:p>
          <a:p>
            <a:pPr indent="-231140" lvl="0" marL="228600" rtl="0" algn="just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Envia o produto</a:t>
            </a:r>
            <a:endParaRPr sz="2000">
              <a:highlight>
                <a:schemeClr val="lt1"/>
              </a:highlight>
            </a:endParaRPr>
          </a:p>
        </p:txBody>
      </p:sp>
      <p:sp>
        <p:nvSpPr>
          <p:cNvPr id="226" name="Google Shape;226;gd2b4982aba_0_11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27" name="Google Shape;227;gd2b4982aba_0_1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8338775" cy="3963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d2b4982aba_0_109"/>
          <p:cNvSpPr txBox="1"/>
          <p:nvPr>
            <p:ph idx="1" type="body"/>
          </p:nvPr>
        </p:nvSpPr>
        <p:spPr>
          <a:xfrm>
            <a:off x="8643575" y="1711525"/>
            <a:ext cx="3335100" cy="377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Processo</a:t>
            </a:r>
            <a:r>
              <a:rPr lang="pt-BR" sz="2000">
                <a:highlight>
                  <a:schemeClr val="lt1"/>
                </a:highlight>
              </a:rPr>
              <a:t>: Receber produto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Evento</a:t>
            </a:r>
            <a:r>
              <a:rPr lang="pt-BR" sz="2000">
                <a:highlight>
                  <a:schemeClr val="lt1"/>
                </a:highlight>
              </a:rPr>
              <a:t>: Terceiro envia produto manutenido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Objetivo:</a:t>
            </a:r>
            <a:r>
              <a:rPr lang="pt-BR" sz="2000">
                <a:highlight>
                  <a:schemeClr val="lt1"/>
                </a:highlight>
              </a:rPr>
              <a:t>  Analisar o produto recebido</a:t>
            </a:r>
            <a:endParaRPr sz="2000"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pt-BR" sz="2000">
                <a:highlight>
                  <a:schemeClr val="lt1"/>
                </a:highlight>
              </a:rPr>
              <a:t>Trabalhador Envolvido</a:t>
            </a:r>
            <a:r>
              <a:rPr lang="pt-BR" sz="2000">
                <a:highlight>
                  <a:schemeClr val="lt1"/>
                </a:highlight>
              </a:rPr>
              <a:t>: Gerente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Verifica o produto recebido do terceiro e guarda o produto em produto ou </a:t>
            </a:r>
            <a:r>
              <a:rPr lang="pt-BR" sz="2000"/>
              <a:t>atualiza as informações se necessário</a:t>
            </a:r>
            <a:r>
              <a:rPr lang="pt-BR" sz="2000">
                <a:highlight>
                  <a:schemeClr val="lt1"/>
                </a:highlight>
              </a:rPr>
              <a:t>.</a:t>
            </a:r>
            <a:endParaRPr sz="2000">
              <a:highlight>
                <a:schemeClr val="lt1"/>
              </a:highlight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pt-BR" sz="2000">
                <a:highlight>
                  <a:schemeClr val="lt1"/>
                </a:highlight>
              </a:rPr>
              <a:t>Atualiza o status da manutenção para “finalizado”.</a:t>
            </a:r>
            <a:endParaRPr sz="2000">
              <a:highlight>
                <a:schemeClr val="lt1"/>
              </a:highlight>
            </a:endParaRPr>
          </a:p>
          <a:p>
            <a:pPr indent="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  <a:p>
            <a:pPr indent="0" lvl="0" marL="0" rtl="0" algn="just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>
              <a:highlight>
                <a:schemeClr val="lt1"/>
              </a:highlight>
            </a:endParaRPr>
          </a:p>
        </p:txBody>
      </p:sp>
      <p:sp>
        <p:nvSpPr>
          <p:cNvPr id="233" name="Google Shape;233;gd2b4982aba_0_109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234" name="Google Shape;234;gd2b4982aba_0_10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8338775" cy="3963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cce74347ab_0_1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Terceirizar Manutenção de Produtos </a:t>
            </a:r>
            <a:endParaRPr b="1"/>
          </a:p>
        </p:txBody>
      </p:sp>
      <p:sp>
        <p:nvSpPr>
          <p:cNvPr id="241" name="Google Shape;241;gcce74347ab_0_17"/>
          <p:cNvSpPr txBox="1"/>
          <p:nvPr/>
        </p:nvSpPr>
        <p:spPr>
          <a:xfrm>
            <a:off x="8643575" y="1711525"/>
            <a:ext cx="3497100" cy="36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Realizar pagamento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 realiza pagamento da manutenção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 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Realizar o pagamento da manutenção ao terceiro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Verifica o valor final da manutenção realizada pelo terceiro.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Retira do lançamento o valor necessário para pagamento.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Realiza pagamento.</a:t>
            </a:r>
            <a:endParaRPr sz="2000"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2" name="Google Shape;242;gcce74347ab_0_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8338775" cy="3963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c63a4fde34_0_3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Capacidade: </a:t>
            </a:r>
            <a:r>
              <a:rPr b="1" lang="pt-BR"/>
              <a:t>Terceirizar Manutenção de Produtos				</a:t>
            </a:r>
            <a:endParaRPr b="1"/>
          </a:p>
        </p:txBody>
      </p:sp>
      <p:sp>
        <p:nvSpPr>
          <p:cNvPr id="249" name="Google Shape;249;gc63a4fde34_0_36"/>
          <p:cNvSpPr txBox="1"/>
          <p:nvPr/>
        </p:nvSpPr>
        <p:spPr>
          <a:xfrm>
            <a:off x="8643575" y="1682825"/>
            <a:ext cx="3347400" cy="341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</a:t>
            </a: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ocesso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Receber comprovante de pagamento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Evento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Terceiro envia comprovante de pagamento e nota fiscal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Objetivo: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  Receber comprovante de pagamento e nota fiscal dos produtos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Trabalhador Envolvido</a:t>
            </a: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: Gerente</a:t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just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pt-BR" sz="20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Recebe o comprovante de pagamento e nota fiscal do terceiro guarda em via de operação.</a:t>
            </a:r>
            <a:endParaRPr b="1" sz="20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0" name="Google Shape;250;gc63a4fde34_0_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1690825"/>
            <a:ext cx="8338775" cy="3963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2019-12-11T13:11:31Z</dcterms:created>
  <dc:creator>Osvaldo Takai</dc:creator>
</cp:coreProperties>
</file>