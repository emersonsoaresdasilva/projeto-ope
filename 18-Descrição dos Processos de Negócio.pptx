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http://customooxmlschemas.google.com/">
      <go:slidesCustomData xmlns:go="http://customooxmlschemas.google.com/" r:id="rId34" roundtripDataSignature="AMtx7mgMOXuX635rq6WTFRYrw2dKICC0X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11" Type="http://schemas.openxmlformats.org/officeDocument/2006/relationships/slide" Target="slides/slide7.xml"/><Relationship Id="rId33" Type="http://schemas.openxmlformats.org/officeDocument/2006/relationships/slide" Target="slides/slide29.xml"/><Relationship Id="rId10" Type="http://schemas.openxmlformats.org/officeDocument/2006/relationships/slide" Target="slides/slide6.xml"/><Relationship Id="rId32" Type="http://schemas.openxmlformats.org/officeDocument/2006/relationships/slide" Target="slides/slide28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34" Type="http://customschemas.google.com/relationships/presentationmetadata" Target="metadata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c552846479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gc552846479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c98e0c4ace_0_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3" name="Google Shape;93;gc98e0c4ace_0_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d2b4982aba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0" name="Google Shape;100;gd2b4982aba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c98e0c4ace_3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7" name="Google Shape;107;gc98e0c4ace_3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c98e0c4ace_0_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4" name="Google Shape;114;gc98e0c4ace_0_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d2a4ffa960_0_3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1" name="Google Shape;121;gd2a4ffa960_0_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d2a4ffa960_0_3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8" name="Google Shape;128;gd2a4ffa960_0_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d6d86abc89_0_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5" name="Google Shape;135;gd6d86abc89_0_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d6d86abc89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2" name="Google Shape;142;gd6d86abc89_0_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c56d62285f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9" name="Google Shape;149;gc56d62285f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c925418432_0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6" name="Google Shape;156;gc925418432_0_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ce01f6a808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3" name="Google Shape;163;gce01f6a808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c925418432_0_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0" name="Google Shape;170;gc925418432_0_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d2b4982aba_0_4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7" name="Google Shape;177;gd2b4982aba_0_4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c63a4fde34_0_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c63a4fde34_0_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gc63a4fde34_0_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cce74347ab_0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cce74347ab_0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gcce74347ab_0_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cce74347ab_0_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cce74347ab_0_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gcce74347ab_0_1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c56d62285f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8" name="Google Shape;208;gc56d62285f_0_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c63a4fde34_0_3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5" name="Google Shape;215;gc63a4fde34_0_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c63a4fde34_0_2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2" name="Google Shape;222;gc63a4fde34_0_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ccf8594cef_0_5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9" name="Google Shape;229;gccf8594cef_0_5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d2b4982aba_0_6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6" name="Google Shape;236;gd2b4982aba_0_6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d2b4982aba_0_7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3" name="Google Shape;243;gd2b4982aba_0_7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d2b4982aba_0_8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0" name="Google Shape;250;gd2b4982aba_0_8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cce74347ab_0_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cce74347ab_0_2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gcce74347ab_0_2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d2b4982aba_0_1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5" name="Google Shape;265;gd2b4982aba_0_1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d2b4982aba_0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72" name="Google Shape;272;gd2b4982aba_0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cce74347ab_0_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cce74347ab_0_1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gcce74347ab_0_1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c63a4fde34_0_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c63a4fde34_0_3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gc63a4fde34_0_3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4" name="Google Shape;24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5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c552846479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rgbClr val="FF0000"/>
              </a:highlight>
            </a:endParaRPr>
          </a:p>
        </p:txBody>
      </p:sp>
      <p:sp>
        <p:nvSpPr>
          <p:cNvPr id="89" name="Google Shape;89;gc552846479_0_0"/>
          <p:cNvSpPr txBox="1"/>
          <p:nvPr>
            <p:ph idx="1" type="body"/>
          </p:nvPr>
        </p:nvSpPr>
        <p:spPr>
          <a:xfrm>
            <a:off x="7327675" y="1690825"/>
            <a:ext cx="4334100" cy="31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Receber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/>
              <a:t>Cliente faz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Registrar as informações do pedido do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●"/>
            </a:pPr>
            <a:r>
              <a:rPr lang="pt-BR" sz="2000"/>
              <a:t>Ao receber a solicitação do cliente, o vendedor consulta se o produto está disponível.</a:t>
            </a:r>
            <a:endParaRPr sz="2000"/>
          </a:p>
          <a:p>
            <a:pPr indent="-355600" lvl="1" marL="9144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pt-BR" sz="2000"/>
              <a:t>Se não estiver disponível, a solicitação será recusada.</a:t>
            </a:r>
            <a:endParaRPr sz="2000"/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pt-BR" sz="2000"/>
              <a:t>Informa o valor do produto ao cliente.</a:t>
            </a:r>
            <a:endParaRPr sz="2000"/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pt-BR" sz="2000"/>
              <a:t>Registra pedido do cliente.</a:t>
            </a:r>
            <a:endParaRPr sz="2000"/>
          </a:p>
        </p:txBody>
      </p:sp>
      <p:pic>
        <p:nvPicPr>
          <p:cNvPr id="90" name="Google Shape;90;gc55284647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825" y="1690825"/>
            <a:ext cx="7022875" cy="48531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c98e0c4ace_0_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96" name="Google Shape;96;gc98e0c4ace_0_1"/>
          <p:cNvSpPr txBox="1"/>
          <p:nvPr>
            <p:ph idx="1" type="body"/>
          </p:nvPr>
        </p:nvSpPr>
        <p:spPr>
          <a:xfrm>
            <a:off x="7327675" y="1690825"/>
            <a:ext cx="4334100" cy="4938000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/>
              <a:t>Processo</a:t>
            </a:r>
            <a:r>
              <a:rPr lang="pt-BR" sz="2000">
                <a:highlight>
                  <a:schemeClr val="lt1"/>
                </a:highlight>
              </a:rPr>
              <a:t>: Avaliar a resposta do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/>
              <a:t>Cliente envia resposta </a:t>
            </a:r>
            <a:endParaRPr sz="2000"/>
          </a:p>
          <a:p>
            <a:pPr indent="0" lvl="0" marL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Tratar o pedido 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/>
              <a:t>Trabalhador Envolvido</a:t>
            </a:r>
            <a:r>
              <a:rPr lang="pt-BR" sz="2000"/>
              <a:t>: </a:t>
            </a:r>
            <a:r>
              <a:rPr lang="pt-BR" sz="2000">
                <a:highlight>
                  <a:schemeClr val="lt1"/>
                </a:highlight>
              </a:rPr>
              <a:t>Vendedor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Após obter o retorno da resposta, o vendedor consulta se o cliente possui cadastro.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a resposta do cliente for de desistência da compra, o vendedor não dará continuidade ao processo.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não existir cadastro, então um novo será criado.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Consulta o pedido 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Atualizar o cadastro do cliente com as informações do novo pedido.</a:t>
            </a:r>
            <a:endParaRPr sz="2000">
              <a:highlight>
                <a:schemeClr val="lt1"/>
              </a:highlight>
            </a:endParaRPr>
          </a:p>
        </p:txBody>
      </p:sp>
      <p:pic>
        <p:nvPicPr>
          <p:cNvPr id="97" name="Google Shape;97;gc98e0c4ace_0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825" y="1690825"/>
            <a:ext cx="7022875" cy="48531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d2b4982aba_0_0"/>
          <p:cNvSpPr txBox="1"/>
          <p:nvPr>
            <p:ph idx="1" type="body"/>
          </p:nvPr>
        </p:nvSpPr>
        <p:spPr>
          <a:xfrm>
            <a:off x="7327675" y="1690825"/>
            <a:ext cx="4334100" cy="283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/>
              <a:t>Processo</a:t>
            </a:r>
            <a:r>
              <a:rPr lang="pt-BR" sz="2000"/>
              <a:t>: </a:t>
            </a:r>
            <a:r>
              <a:rPr lang="pt-BR" sz="2000">
                <a:highlight>
                  <a:schemeClr val="lt1"/>
                </a:highlight>
              </a:rPr>
              <a:t>Calcular taxa de entrega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/>
              <a:t>Evento</a:t>
            </a:r>
            <a:r>
              <a:rPr lang="pt-BR" sz="2000"/>
              <a:t>: </a:t>
            </a:r>
            <a:r>
              <a:rPr lang="pt-BR" sz="2000">
                <a:highlight>
                  <a:schemeClr val="lt1"/>
                </a:highlight>
              </a:rPr>
              <a:t>Vendedor informa valor do pedido e taxa de entrega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Informar valores do pedido e da entrega para 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rgbClr val="FFFFFF"/>
                </a:highlight>
              </a:rPr>
              <a:t>Consulta o pedido </a:t>
            </a:r>
            <a:endParaRPr sz="2000">
              <a:highlight>
                <a:srgbClr val="FFFFFF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rgbClr val="FFFFFF"/>
                </a:highlight>
              </a:rPr>
              <a:t>Consulta o endereço do cliente.</a:t>
            </a:r>
            <a:endParaRPr sz="2000">
              <a:highlight>
                <a:srgbClr val="FFFFFF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rgbClr val="FFFFFF"/>
                </a:highlight>
              </a:rPr>
              <a:t>Informa o valor do pedido e do frete.</a:t>
            </a:r>
            <a:endParaRPr sz="2000">
              <a:highlight>
                <a:srgbClr val="FFFFFF"/>
              </a:highlight>
            </a:endParaRPr>
          </a:p>
        </p:txBody>
      </p:sp>
      <p:sp>
        <p:nvSpPr>
          <p:cNvPr id="103" name="Google Shape;103;gd2b4982aba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04" name="Google Shape;104;gd2b4982aba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825" y="1690825"/>
            <a:ext cx="7022875" cy="48531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c98e0c4ace_3_0"/>
          <p:cNvSpPr txBox="1"/>
          <p:nvPr>
            <p:ph idx="1" type="body"/>
          </p:nvPr>
        </p:nvSpPr>
        <p:spPr>
          <a:xfrm>
            <a:off x="7327675" y="1690825"/>
            <a:ext cx="4334100" cy="335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</a:t>
            </a:r>
            <a:r>
              <a:rPr b="1" lang="pt-BR" sz="2000">
                <a:highlight>
                  <a:schemeClr val="lt1"/>
                </a:highlight>
              </a:rPr>
              <a:t>o</a:t>
            </a:r>
            <a:r>
              <a:rPr lang="pt-BR" sz="2000">
                <a:highlight>
                  <a:schemeClr val="lt1"/>
                </a:highlight>
              </a:rPr>
              <a:t>: Receber cartão + senha 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/>
              <a:t>Cliente informa cartão, senha e forma de pagamento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Tratar o processo de pagamento do produto</a:t>
            </a:r>
            <a:endParaRPr sz="2000"/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  <a:extLst>
                  <a:ext uri="http://customooxmlschemas.google.com/">
                    <go:slidesCustomData xmlns:go="http://customooxmlschemas.google.com/" textRoundtripDataId="0"/>
                  </a:ext>
                </a:extLst>
              </a:rPr>
              <a:t>Vendedor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Consulta o valor do pedido e depois informa ao cliente.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Pergunta a forma de pagamento.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Envia ao provedor de cartões a solicitação de crédito ou débito.</a:t>
            </a:r>
            <a:endParaRPr sz="2000"/>
          </a:p>
        </p:txBody>
      </p:sp>
      <p:sp>
        <p:nvSpPr>
          <p:cNvPr id="110" name="Google Shape;110;gc98e0c4ace_3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 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11" name="Google Shape;111;gc98e0c4ace_3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825" y="1690825"/>
            <a:ext cx="7022875" cy="48531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c98e0c4ace_0_7"/>
          <p:cNvSpPr txBox="1"/>
          <p:nvPr>
            <p:ph idx="1" type="body"/>
          </p:nvPr>
        </p:nvSpPr>
        <p:spPr>
          <a:xfrm>
            <a:off x="7327675" y="1690825"/>
            <a:ext cx="4530000" cy="40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Analisar Resposta da Transação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Provedor de cartões envia resposta da transação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Informar ao cliente se a transação será aprovada ou recusada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Operador do Provedor de Cartões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Faz a análise do valor solicitado.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não houver limite suficiente, informa que o valor foi recusado.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Registra e atualiza o status da transação para “aprovado”.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Emite via de operação.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17" name="Google Shape;117;gc98e0c4ace_0_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rgbClr val="FF0000"/>
              </a:highlight>
            </a:endParaRPr>
          </a:p>
        </p:txBody>
      </p:sp>
      <p:pic>
        <p:nvPicPr>
          <p:cNvPr id="118" name="Google Shape;118;gc98e0c4ace_0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825" y="1690825"/>
            <a:ext cx="7022875" cy="48531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d2a4ffa960_0_32"/>
          <p:cNvSpPr txBox="1"/>
          <p:nvPr>
            <p:ph idx="1" type="body"/>
          </p:nvPr>
        </p:nvSpPr>
        <p:spPr>
          <a:xfrm>
            <a:off x="7327675" y="1690825"/>
            <a:ext cx="4334100" cy="38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/>
              <a:t>P</a:t>
            </a:r>
            <a:r>
              <a:rPr b="1" lang="pt-BR" sz="2000">
                <a:highlight>
                  <a:schemeClr val="lt1"/>
                </a:highlight>
              </a:rPr>
              <a:t>rocesso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Enviar pedido para postagem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Vendedor solicita envio do pedido a empresa de correspondência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Encaminhar o produto para  postagem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Vendedor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os dados do pedido do cliente.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Envia o pedido para postagem na empresa de correspondências.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24" name="Google Shape;124;gd2a4ffa960_0_3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25" name="Google Shape;125;gd2a4ffa960_0_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825" y="1690825"/>
            <a:ext cx="7022875" cy="48531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d2a4ffa960_0_38"/>
          <p:cNvSpPr txBox="1"/>
          <p:nvPr>
            <p:ph idx="1" type="body"/>
          </p:nvPr>
        </p:nvSpPr>
        <p:spPr>
          <a:xfrm>
            <a:off x="7327675" y="1690825"/>
            <a:ext cx="4334100" cy="25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Enviar código de rastreio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Empresa de correspondências informa código de rastreio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Rastrear o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Após receber o código de rastreio, o vendedor encaminha o código ao cliente.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o status do pedido.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31" name="Google Shape;131;gd2a4ffa960_0_3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32" name="Google Shape;132;gd2a4ffa960_0_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825" y="1690825"/>
            <a:ext cx="7022875" cy="48531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d6d86abc89_0_1"/>
          <p:cNvSpPr txBox="1"/>
          <p:nvPr>
            <p:ph idx="1" type="body"/>
          </p:nvPr>
        </p:nvSpPr>
        <p:spPr>
          <a:xfrm>
            <a:off x="7327675" y="1690825"/>
            <a:ext cx="4334100" cy="25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Entrega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Empresa de correspondências envia produto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Envio do produto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Entregador da </a:t>
            </a:r>
            <a:r>
              <a:rPr lang="pt-BR" sz="2000">
                <a:highlight>
                  <a:schemeClr val="lt1"/>
                </a:highlight>
              </a:rPr>
              <a:t>Empresa de correspondências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Entregador entrega o pedido ao cliente.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38" name="Google Shape;138;gd6d86abc89_0_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39" name="Google Shape;139;gd6d86abc89_0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825" y="1690825"/>
            <a:ext cx="7022875" cy="48531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d6d86abc89_0_6"/>
          <p:cNvSpPr txBox="1"/>
          <p:nvPr>
            <p:ph idx="1" type="body"/>
          </p:nvPr>
        </p:nvSpPr>
        <p:spPr>
          <a:xfrm>
            <a:off x="7327675" y="1690825"/>
            <a:ext cx="4334100" cy="25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Finalizar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Cliente informa resposta sobre entrega do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Verificar e finalizar pedido.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Após recebimento da resposta do cliente sobre a entrega, o pedido é finalizado.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45" name="Google Shape;145;gd6d86abc89_0_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46" name="Google Shape;146;gd6d86abc89_0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825" y="1690825"/>
            <a:ext cx="7022875" cy="48531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c56d62285f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52" name="Google Shape;152;gc56d62285f_0_0"/>
          <p:cNvSpPr txBox="1"/>
          <p:nvPr>
            <p:ph idx="1" type="body"/>
          </p:nvPr>
        </p:nvSpPr>
        <p:spPr>
          <a:xfrm>
            <a:off x="7346650" y="1690825"/>
            <a:ext cx="4334100" cy="40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Receber solicitação de suporte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Cliente faz solicitação de suporte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Analisar as solicitações abertas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C</a:t>
            </a:r>
            <a:r>
              <a:rPr lang="pt-BR" sz="2000">
                <a:highlight>
                  <a:schemeClr val="lt1"/>
                </a:highlight>
              </a:rPr>
              <a:t>onsulta os dados do pedido feito (compra) e do chamado do cliente.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Se o produto possuir mais do que 90 dias, a garantia não cobre o reparo e o técnico  recusa a solicitação.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Informa o número do chamado.</a:t>
            </a:r>
            <a:endParaRPr sz="2000"/>
          </a:p>
        </p:txBody>
      </p:sp>
      <p:pic>
        <p:nvPicPr>
          <p:cNvPr id="153" name="Google Shape;153;gc56d62285f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690825"/>
            <a:ext cx="7194251" cy="30203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c925418432_0_1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59" name="Google Shape;159;gc925418432_0_12"/>
          <p:cNvSpPr txBox="1"/>
          <p:nvPr>
            <p:ph idx="1" type="body"/>
          </p:nvPr>
        </p:nvSpPr>
        <p:spPr>
          <a:xfrm>
            <a:off x="7346650" y="1690825"/>
            <a:ext cx="4433700" cy="47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Analisar  o problema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Cliente envia resposta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Tratar o chamado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O atendente consulta o chamado do cliente.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bri"/>
              <a:buChar char="○"/>
            </a:pPr>
            <a:r>
              <a:rPr lang="pt-BR" sz="2000">
                <a:highlight>
                  <a:schemeClr val="lt1"/>
                </a:highlight>
                <a:extLst>
                  <a:ext uri="http://customooxmlschemas.google.com/">
                    <go:slidesCustomData xmlns:go="http://customooxmlschemas.google.com/" textRoundtripDataId="1"/>
                  </a:ext>
                </a:extLst>
              </a:rPr>
              <a:t>Se o defeito foi causado por mau uso, a garantia não cobrirá o conserto. Então, o atendente faz um orçamento a parte para  o cliente.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bri"/>
              <a:buChar char="○"/>
            </a:pPr>
            <a:r>
              <a:rPr lang="pt-BR" sz="2000">
                <a:highlight>
                  <a:schemeClr val="lt1"/>
                </a:highlight>
              </a:rPr>
              <a:t>Se o cliente comprou um equipamento que não atende o seu uso e reportar como um defeito, a solicitação também será recusada. Ainda assim, o atendente pode informar um orçamento a parte de upgrade.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Informa o prazo para o cliente.</a:t>
            </a:r>
            <a:endParaRPr sz="2000">
              <a:highlight>
                <a:schemeClr val="lt1"/>
              </a:highlight>
            </a:endParaRPr>
          </a:p>
        </p:txBody>
      </p:sp>
      <p:pic>
        <p:nvPicPr>
          <p:cNvPr id="160" name="Google Shape;160;gc925418432_0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690825"/>
            <a:ext cx="7194251" cy="30203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ce01f6a808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 </a:t>
            </a:r>
            <a:endParaRPr>
              <a:highlight>
                <a:srgbClr val="FF9900"/>
              </a:highlight>
            </a:endParaRPr>
          </a:p>
        </p:txBody>
      </p:sp>
      <p:sp>
        <p:nvSpPr>
          <p:cNvPr id="166" name="Google Shape;166;gce01f6a808_0_0"/>
          <p:cNvSpPr txBox="1"/>
          <p:nvPr>
            <p:ph idx="1" type="body"/>
          </p:nvPr>
        </p:nvSpPr>
        <p:spPr>
          <a:xfrm>
            <a:off x="7346925" y="1690825"/>
            <a:ext cx="4334100" cy="274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Encaminhar chamado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/>
              <a:t>Atendente informa prazo de solução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Informar o cliente sobre o prazo de solução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Após receber a resposta do cliente, o atendente consulta o chamado.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Encaminha o chamado para a manutenção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400">
              <a:highlight>
                <a:schemeClr val="lt1"/>
              </a:highlight>
            </a:endParaRPr>
          </a:p>
        </p:txBody>
      </p:sp>
      <p:pic>
        <p:nvPicPr>
          <p:cNvPr id="167" name="Google Shape;167;gce01f6a808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690825"/>
            <a:ext cx="7194251" cy="30203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c925418432_0_1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73" name="Google Shape;173;gc925418432_0_18"/>
          <p:cNvSpPr txBox="1"/>
          <p:nvPr>
            <p:ph idx="1" type="body"/>
          </p:nvPr>
        </p:nvSpPr>
        <p:spPr>
          <a:xfrm>
            <a:off x="7346650" y="1686300"/>
            <a:ext cx="4334100" cy="34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Atualizar status da manutenção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Atendente informa ao cliente o status do chamado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Informar o cliente sobre o status do chamado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Consulta o andamento da manutenção do cliente.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Acessa o chamado e atualiza o status.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Informa o status ao cliente.</a:t>
            </a:r>
            <a:endParaRPr sz="2000">
              <a:highlight>
                <a:schemeClr val="lt1"/>
              </a:highlight>
            </a:endParaRPr>
          </a:p>
          <a:p>
            <a:pPr indent="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</p:txBody>
      </p:sp>
      <p:pic>
        <p:nvPicPr>
          <p:cNvPr id="174" name="Google Shape;174;gc925418432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686300"/>
            <a:ext cx="7194251" cy="30203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d2b4982aba_0_4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80" name="Google Shape;180;gd2b4982aba_0_41"/>
          <p:cNvSpPr txBox="1"/>
          <p:nvPr>
            <p:ph idx="1" type="body"/>
          </p:nvPr>
        </p:nvSpPr>
        <p:spPr>
          <a:xfrm>
            <a:off x="7346650" y="1686300"/>
            <a:ext cx="4334100" cy="274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Devolver o produto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Atendente devolve produto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Devolver o produto manutenido ao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Após ter finalizado a manutenção, o atendente atualiza o status do chamado para “encerrado” e fechar o pedido.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 Devolve o produto ao </a:t>
            </a:r>
            <a:r>
              <a:rPr lang="pt-BR" sz="2000">
                <a:highlight>
                  <a:schemeClr val="lt1"/>
                </a:highlight>
                <a:extLst>
                  <a:ext uri="http://customooxmlschemas.google.com/">
                    <go:slidesCustomData xmlns:go="http://customooxmlschemas.google.com/" textRoundtripDataId="2"/>
                  </a:ext>
                </a:extLst>
              </a:rPr>
              <a:t>cliente</a:t>
            </a:r>
            <a:r>
              <a:rPr lang="pt-BR" sz="2000">
                <a:highlight>
                  <a:schemeClr val="lt1"/>
                </a:highlight>
              </a:rPr>
              <a:t>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400">
              <a:highlight>
                <a:schemeClr val="lt1"/>
              </a:highlight>
            </a:endParaRPr>
          </a:p>
        </p:txBody>
      </p:sp>
      <p:pic>
        <p:nvPicPr>
          <p:cNvPr id="181" name="Google Shape;181;gd2b4982aba_0_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686300"/>
            <a:ext cx="7194251" cy="30203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c63a4fde34_0_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</a:t>
            </a:r>
            <a:r>
              <a:rPr lang="pt-BR"/>
              <a:t> </a:t>
            </a:r>
            <a:r>
              <a:rPr b="1" lang="pt-BR"/>
              <a:t>Tratar Devoluções 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188" name="Google Shape;188;gc63a4fde34_0_5"/>
          <p:cNvSpPr txBox="1"/>
          <p:nvPr/>
        </p:nvSpPr>
        <p:spPr>
          <a:xfrm>
            <a:off x="8039100" y="1690825"/>
            <a:ext cx="3771300" cy="37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Receber solicitação de devolução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Cliente solicita devolução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Analisar a solicitação de devolução recebida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Atendente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Consulta o pedido do cliente.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1" marL="9144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Se o produto possuir mais de sete dias, o atendente informa ao cliente que a solicitação foi recusada.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Consulta e informa o número do chamado ao cliente.</a:t>
            </a:r>
            <a:endParaRPr sz="2000">
              <a:highlight>
                <a:schemeClr val="lt1"/>
              </a:highlight>
            </a:endParaRPr>
          </a:p>
        </p:txBody>
      </p:sp>
      <p:pic>
        <p:nvPicPr>
          <p:cNvPr id="189" name="Google Shape;189;gc63a4fde34_0_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850" y="1690825"/>
            <a:ext cx="7877250" cy="44233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cce74347ab_0_4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Tratar Devoluções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196" name="Google Shape;196;gcce74347ab_0_4"/>
          <p:cNvSpPr txBox="1"/>
          <p:nvPr/>
        </p:nvSpPr>
        <p:spPr>
          <a:xfrm>
            <a:off x="8039100" y="1690825"/>
            <a:ext cx="3485100" cy="315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Analisar produto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Atendente informa status do chamado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Devolver status de chamado ao cliente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Atendente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Consulta o produto adquirido.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Informa o status do chamado ou a recusa.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7" name="Google Shape;197;gcce74347ab_0_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850" y="1690825"/>
            <a:ext cx="7877250" cy="44233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cce74347ab_0_1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Tratar Devoluções 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204" name="Google Shape;204;gcce74347ab_0_10"/>
          <p:cNvSpPr txBox="1"/>
          <p:nvPr/>
        </p:nvSpPr>
        <p:spPr>
          <a:xfrm>
            <a:off x="8039100" y="1690825"/>
            <a:ext cx="3437700" cy="389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Devolver valor do produto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Atendente devolve valor do produto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Restituir o valor ao cliente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Atendente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311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Consulta o valor do produto.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311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Envia o valor ao cliente.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311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Registra o lançamento.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311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Atualiza o status do chamado para “encerrado”.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" name="Google Shape;205;gcce74347ab_0_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850" y="1690825"/>
            <a:ext cx="7877250" cy="44233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c56d62285f_0_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 </a:t>
            </a:r>
            <a:endParaRPr sz="3100">
              <a:highlight>
                <a:schemeClr val="lt1"/>
              </a:highlight>
            </a:endParaRPr>
          </a:p>
        </p:txBody>
      </p:sp>
      <p:sp>
        <p:nvSpPr>
          <p:cNvPr id="211" name="Google Shape;211;gc56d62285f_0_6"/>
          <p:cNvSpPr txBox="1"/>
          <p:nvPr/>
        </p:nvSpPr>
        <p:spPr>
          <a:xfrm>
            <a:off x="7205050" y="1690825"/>
            <a:ext cx="4258200" cy="26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Solicitar catálogo de produtos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Gerente solicita catálogo de produtos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Adquirir novas mercadorias para revender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Trabalhadores </a:t>
            </a: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  <a:extLst>
                  <a:ext uri="http://customooxmlschemas.google.com/">
                    <go:slidesCustomData xmlns:go="http://customooxmlschemas.google.com/" textRoundtripDataId="3"/>
                  </a:ext>
                </a:extLst>
              </a:rPr>
              <a:t>Envolvidos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Solicita o catálogo de produtos ao fornecedor.</a:t>
            </a:r>
            <a:endParaRPr sz="2000">
              <a:highlight>
                <a:schemeClr val="lt1"/>
              </a:highlight>
            </a:endParaRPr>
          </a:p>
        </p:txBody>
      </p:sp>
      <p:pic>
        <p:nvPicPr>
          <p:cNvPr id="212" name="Google Shape;212;gc56d62285f_0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690825"/>
            <a:ext cx="7052650" cy="31147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c63a4fde34_0_3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218" name="Google Shape;218;gc63a4fde34_0_30"/>
          <p:cNvSpPr txBox="1"/>
          <p:nvPr/>
        </p:nvSpPr>
        <p:spPr>
          <a:xfrm>
            <a:off x="7205050" y="1690825"/>
            <a:ext cx="4114800" cy="228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Analisar o catálogo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Fornecedor envia catálogo de produtos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Enviar o catálogo 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Trabalhadores </a:t>
            </a: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  <a:extLst>
                  <a:ext uri="http://customooxmlschemas.google.com/">
                    <go:slidesCustomData xmlns:go="http://customooxmlschemas.google.com/" textRoundtripDataId="4"/>
                  </a:ext>
                </a:extLst>
              </a:rPr>
              <a:t>Envolvidos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Fornecedor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 fornecedor envia o catálogo de produtos ao gerente.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9" name="Google Shape;219;gc63a4fde34_0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690825"/>
            <a:ext cx="7052650" cy="31147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c63a4fde34_0_24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225" name="Google Shape;225;gc63a4fde34_0_24"/>
          <p:cNvSpPr txBox="1"/>
          <p:nvPr/>
        </p:nvSpPr>
        <p:spPr>
          <a:xfrm>
            <a:off x="7205050" y="1690825"/>
            <a:ext cx="4002000" cy="253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Realizar pedido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Gerente solicita orçamento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Comprar produtos com o fornecedor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Trabalhadores </a:t>
            </a: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  <a:extLst>
                  <a:ext uri="http://customooxmlschemas.google.com/">
                    <go:slidesCustomData xmlns:go="http://customooxmlschemas.google.com/" textRoundtripDataId="5"/>
                  </a:ext>
                </a:extLst>
              </a:rPr>
              <a:t>Envolvidos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Analisa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 catálogo.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Faz o pedido.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Solicita o orçamento.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6" name="Google Shape;226;gc63a4fde34_0_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690825"/>
            <a:ext cx="7052650" cy="31147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ccf8594cef_0_5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232" name="Google Shape;232;gccf8594cef_0_51"/>
          <p:cNvSpPr txBox="1"/>
          <p:nvPr/>
        </p:nvSpPr>
        <p:spPr>
          <a:xfrm>
            <a:off x="7205050" y="1690825"/>
            <a:ext cx="3973800" cy="26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Analisar orçamento do pedido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Fornecedor envia orçamento</a:t>
            </a:r>
            <a:endParaRPr b="1"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Enviar o orçamento 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Trabalhadores </a:t>
            </a: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  <a:extLst>
                  <a:ext uri="http://customooxmlschemas.google.com/">
                    <go:slidesCustomData xmlns:go="http://customooxmlschemas.google.com/" textRoundtripDataId="6"/>
                  </a:ext>
                </a:extLst>
              </a:rPr>
              <a:t>Envolvidos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Fornecedor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Analisa o valor do pedido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Envia o orçamento ao gerente.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gccf8594cef_0_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690825"/>
            <a:ext cx="7052650" cy="31147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d2b4982aba_0_66"/>
          <p:cNvSpPr txBox="1"/>
          <p:nvPr>
            <p:ph idx="1" type="body"/>
          </p:nvPr>
        </p:nvSpPr>
        <p:spPr>
          <a:xfrm>
            <a:off x="7205050" y="1767025"/>
            <a:ext cx="4334100" cy="273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Pagar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Gerente realiza pagamento via débito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Pagar as mercadorias adquiridas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Consulta o valor do pedido.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Faz o pagamento via débito ao fornecedor.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Registra</a:t>
            </a:r>
            <a:r>
              <a:rPr lang="pt-BR" sz="2000">
                <a:highlight>
                  <a:schemeClr val="lt1"/>
                </a:highlight>
              </a:rPr>
              <a:t> e </a:t>
            </a:r>
            <a:r>
              <a:rPr lang="pt-BR" sz="2000">
                <a:highlight>
                  <a:schemeClr val="lt1"/>
                </a:highlight>
              </a:rPr>
              <a:t>atualiza</a:t>
            </a:r>
            <a:r>
              <a:rPr lang="pt-BR" sz="2000">
                <a:highlight>
                  <a:schemeClr val="lt1"/>
                </a:highlight>
              </a:rPr>
              <a:t> os lançamentos.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239" name="Google Shape;239;gd2b4982aba_0_6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40" name="Google Shape;240;gd2b4982aba_0_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690825"/>
            <a:ext cx="7052650" cy="31147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d2b4982aba_0_73"/>
          <p:cNvSpPr txBox="1"/>
          <p:nvPr>
            <p:ph idx="1" type="body"/>
          </p:nvPr>
        </p:nvSpPr>
        <p:spPr>
          <a:xfrm>
            <a:off x="7205050" y="1767025"/>
            <a:ext cx="4334100" cy="225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Receber comprovante de pagamento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Fornecedor envia comprovante de pagamento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Confirmar que o pagamento foi realizado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Fornecedor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Envia o comprovante de pagamento do pedido ao gerente.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246" name="Google Shape;246;gd2b4982aba_0_73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47" name="Google Shape;247;gd2b4982aba_0_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690825"/>
            <a:ext cx="7052650" cy="31147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d2b4982aba_0_85"/>
          <p:cNvSpPr txBox="1"/>
          <p:nvPr>
            <p:ph idx="1" type="body"/>
          </p:nvPr>
        </p:nvSpPr>
        <p:spPr>
          <a:xfrm>
            <a:off x="7205050" y="1767025"/>
            <a:ext cx="4334100" cy="40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/>
              <a:t>Pr</a:t>
            </a:r>
            <a:r>
              <a:rPr b="1" lang="pt-BR" sz="2000">
                <a:highlight>
                  <a:schemeClr val="lt1"/>
                </a:highlight>
              </a:rPr>
              <a:t>ocesso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Receber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Fornecedor envia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Enviar os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Fornecedor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Fornecedor envia os produtos a revendedora.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253" name="Google Shape;253;gd2b4982aba_0_8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 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54" name="Google Shape;254;gd2b4982aba_0_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690825"/>
            <a:ext cx="7052650" cy="31147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cce74347ab_0_29"/>
          <p:cNvSpPr txBox="1"/>
          <p:nvPr>
            <p:ph type="title"/>
          </p:nvPr>
        </p:nvSpPr>
        <p:spPr>
          <a:xfrm>
            <a:off x="838200" y="365125"/>
            <a:ext cx="107742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261" name="Google Shape;261;gcce74347ab_0_29"/>
          <p:cNvSpPr txBox="1"/>
          <p:nvPr/>
        </p:nvSpPr>
        <p:spPr>
          <a:xfrm>
            <a:off x="8643575" y="1062300"/>
            <a:ext cx="3335400" cy="53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Solicitar serviço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Gerente solicita serviços de manutenção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Terceirizar o suporte que não pode ser atendido pela GamaWare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184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Após receber a solicitação, o gerente consulta as informações do produto.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184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Consulta se há recursos para realizar a manutenção.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1" marL="9144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○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Se a solicitação não puder ser atendida será repassada a empresa terceirizada.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184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Registra as informações da manutenção.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2" name="Google Shape;262;gcce74347ab_0_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9575" y="1711512"/>
            <a:ext cx="8444000" cy="34349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2b4982aba_0_115"/>
          <p:cNvSpPr txBox="1"/>
          <p:nvPr>
            <p:ph idx="1" type="body"/>
          </p:nvPr>
        </p:nvSpPr>
        <p:spPr>
          <a:xfrm>
            <a:off x="8396925" y="1711525"/>
            <a:ext cx="3663300" cy="40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Receber resposta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Terceiro envia orçamento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Enviar o orçamento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Terceiro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Consulta a manutenção que deve ser feita no produto.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Informa o orçamento.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o gerente recusar o orçamento, o terceiro encerra o processo.</a:t>
            </a:r>
            <a:endParaRPr sz="1800">
              <a:highlight>
                <a:schemeClr val="lt1"/>
              </a:highlight>
            </a:endParaRPr>
          </a:p>
        </p:txBody>
      </p:sp>
      <p:sp>
        <p:nvSpPr>
          <p:cNvPr id="268" name="Google Shape;268;gd2b4982aba_0_11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69" name="Google Shape;269;gd2b4982aba_0_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9575" y="1711512"/>
            <a:ext cx="8444000" cy="34349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d2b4982aba_0_109"/>
          <p:cNvSpPr txBox="1"/>
          <p:nvPr>
            <p:ph idx="1" type="body"/>
          </p:nvPr>
        </p:nvSpPr>
        <p:spPr>
          <a:xfrm>
            <a:off x="8643575" y="1711525"/>
            <a:ext cx="3335100" cy="46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Analisar orçamento da manutenção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Gerente envia resposta sobre orçamento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Analisar o orçamento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Faz análise da manutenção que ele solicitou.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Analisa o valor proposto pelo terceiro.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o valor não compensar, o gerente recusa o orçamento.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Enviar</a:t>
            </a:r>
            <a:r>
              <a:rPr lang="pt-BR" sz="2000">
                <a:highlight>
                  <a:schemeClr val="lt1"/>
                </a:highlight>
              </a:rPr>
              <a:t> resposta.</a:t>
            </a:r>
            <a:endParaRPr sz="2000">
              <a:highlight>
                <a:schemeClr val="lt1"/>
              </a:highlight>
            </a:endParaRPr>
          </a:p>
          <a:p>
            <a:pPr indent="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</p:txBody>
      </p:sp>
      <p:sp>
        <p:nvSpPr>
          <p:cNvPr id="275" name="Google Shape;275;gd2b4982aba_0_109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76" name="Google Shape;276;gd2b4982aba_0_10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9575" y="1711512"/>
            <a:ext cx="8444000" cy="34349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cce74347ab_0_1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/>
          </a:p>
        </p:txBody>
      </p:sp>
      <p:sp>
        <p:nvSpPr>
          <p:cNvPr id="283" name="Google Shape;283;gcce74347ab_0_17"/>
          <p:cNvSpPr txBox="1"/>
          <p:nvPr/>
        </p:nvSpPr>
        <p:spPr>
          <a:xfrm>
            <a:off x="8643575" y="1711525"/>
            <a:ext cx="3497100" cy="303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Realizar pagamento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Gerente realiza pagamento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Trabalhador Envolvido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31140" lvl="0" marL="2286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Consulta o custo da manutenção.</a:t>
            </a:r>
            <a:endParaRPr sz="2000"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31140" lvl="0" marL="2286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Faz o pagamento via débito do serviço ao terceiro.</a:t>
            </a:r>
            <a:endParaRPr sz="2000"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31140" lvl="0" marL="2286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Registra o pagamento.</a:t>
            </a:r>
            <a:endParaRPr sz="2000"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4" name="Google Shape;284;gcce74347ab_0_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9575" y="1711512"/>
            <a:ext cx="8444000" cy="34349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c63a4fde34_0_3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Terceirizar Manutenção de Produtos				</a:t>
            </a:r>
            <a:endParaRPr b="1"/>
          </a:p>
        </p:txBody>
      </p:sp>
      <p:sp>
        <p:nvSpPr>
          <p:cNvPr id="291" name="Google Shape;291;gc63a4fde34_0_36"/>
          <p:cNvSpPr txBox="1"/>
          <p:nvPr/>
        </p:nvSpPr>
        <p:spPr>
          <a:xfrm>
            <a:off x="8643575" y="1711525"/>
            <a:ext cx="3000000" cy="400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Receber produto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Terceiro devolve o produto manutenido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Devolver ao cliente o produto manutenido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Terceiro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Devolve o produto manutenido a revendedora.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Aguarda a confirmação de que o solicitante recebeu o produto.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2" name="Google Shape;292;gc63a4fde34_0_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9575" y="1711512"/>
            <a:ext cx="8444000" cy="34349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2019-12-11T13:11:31Z</dcterms:created>
  <dc:creator>Osvaldo Takai</dc:creator>
</cp:coreProperties>
</file>