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28" roundtripDataSignature="AMtx7mj8AWnc4w/8qTkvzmrttpFhBtH4e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customschemas.google.com/relationships/presentationmetadata" Target="metadata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c55284647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gc552846479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c98e0c4ace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" name="Google Shape;93;gc98e0c4ace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c98e0c4ace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0" name="Google Shape;100;gc98e0c4ace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d2a4ffa960_0_3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" name="Google Shape;107;gd2a4ffa960_0_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d2a4ffa960_0_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gd2a4ffa960_0_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d6d86abc89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1" name="Google Shape;121;gd6d86abc89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c56d62285f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8" name="Google Shape;128;gc56d62285f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c925418432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gc925418432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ce01f6a808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2" name="Google Shape;142;gce01f6a808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c925418432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9" name="Google Shape;149;gc925418432_0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d2b4982aba_0_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6" name="Google Shape;156;gd2b4982aba_0_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c63a4fde34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c63a4fde34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c63a4fde34_0_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cce74347ab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cce74347ab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gcce74347ab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cce74347ab_0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cce74347ab_0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gcce74347ab_0_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c56d62285f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7" name="Google Shape;187;gc56d62285f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c63a4fde34_0_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4" name="Google Shape;194;gc63a4fde34_0_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d2b4982aba_0_6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1" name="Google Shape;201;gd2b4982aba_0_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d2b4982aba_0_8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8" name="Google Shape;208;gd2b4982aba_0_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cce74347ab_0_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cce74347ab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gcce74347ab_0_2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d2b4982aba_0_1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3" name="Google Shape;223;gd2b4982aba_0_1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d2b4982aba_0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0" name="Google Shape;230;gd2b4982aba_0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cce74347ab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cce74347ab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gcce74347ab_0_1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c63a4fde34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c63a4fde34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gc63a4fde34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c552846479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sp>
        <p:nvSpPr>
          <p:cNvPr id="89" name="Google Shape;89;gc552846479_0_0"/>
          <p:cNvSpPr txBox="1"/>
          <p:nvPr>
            <p:ph idx="1" type="body"/>
          </p:nvPr>
        </p:nvSpPr>
        <p:spPr>
          <a:xfrm>
            <a:off x="7327675" y="1690825"/>
            <a:ext cx="4334100" cy="38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faz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Verificar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Verifica</a:t>
            </a:r>
            <a:r>
              <a:rPr lang="pt-BR" sz="2000"/>
              <a:t> se o produto está disponível.</a:t>
            </a:r>
            <a:endParaRPr sz="2000"/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/>
              <a:t>Se não estiver disponível, o pedido é recusado.</a:t>
            </a:r>
            <a:endParaRPr sz="2000"/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Solicita os dados de cadastro do cliente.</a:t>
            </a:r>
            <a:endParaRPr sz="2000"/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/>
              <a:t>Se as informações do cliente não existirem, então elas são guardadas em Cliente, caso contrário atualiza as informações se necessário.</a:t>
            </a:r>
            <a:endParaRPr sz="2000"/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Informa valor do pedido e taxa de entrega.</a:t>
            </a:r>
            <a:endParaRPr sz="2000"/>
          </a:p>
        </p:txBody>
      </p:sp>
      <p:pic>
        <p:nvPicPr>
          <p:cNvPr id="90" name="Google Shape;90;gc55284647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c98e0c4ace_3_0"/>
          <p:cNvSpPr txBox="1"/>
          <p:nvPr>
            <p:ph idx="1" type="body"/>
          </p:nvPr>
        </p:nvSpPr>
        <p:spPr>
          <a:xfrm>
            <a:off x="7327675" y="1690825"/>
            <a:ext cx="4334100" cy="298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</a:t>
            </a:r>
            <a:r>
              <a:rPr b="1" lang="pt-BR" sz="2000">
                <a:highlight>
                  <a:schemeClr val="lt1"/>
                </a:highlight>
              </a:rPr>
              <a:t>o</a:t>
            </a:r>
            <a:r>
              <a:rPr lang="pt-BR" sz="2000">
                <a:highlight>
                  <a:schemeClr val="lt1"/>
                </a:highlight>
              </a:rPr>
              <a:t>: Receber cartão + senha 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informa cartão e senha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Tratar o processo de pagamento do pedido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0"/>
                  </a:ext>
                </a:extLst>
              </a:rPr>
              <a:t>Vendedor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os dados cartão informados para pagamento</a:t>
            </a:r>
            <a:r>
              <a:rPr lang="pt-BR" sz="2000">
                <a:highlight>
                  <a:schemeClr val="lt1"/>
                </a:highlight>
              </a:rPr>
              <a:t>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status do pedido do cliente em pedido.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96" name="Google Shape;96;gc98e0c4ace_3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 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97" name="Google Shape;97;gc98e0c4ace_3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c98e0c4ace_0_7"/>
          <p:cNvSpPr txBox="1"/>
          <p:nvPr>
            <p:ph idx="1" type="body"/>
          </p:nvPr>
        </p:nvSpPr>
        <p:spPr>
          <a:xfrm>
            <a:off x="7327675" y="1690825"/>
            <a:ext cx="4530000" cy="43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Provedor de cartões envia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Informar ao cliente se a transação será aprovada ou recusada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a resposta da transação do pedido.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houver limite suficiente, informa ao cliente que o valor foi recusado.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pedido do cliente para</a:t>
            </a:r>
            <a:r>
              <a:rPr lang="pt-BR" sz="2000">
                <a:highlight>
                  <a:schemeClr val="lt1"/>
                </a:highlight>
              </a:rPr>
              <a:t> “pagamento confirmado”.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03" name="Google Shape;103;gc98e0c4ace_0_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04" name="Google Shape;104;gc98e0c4ace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d2a4ffa960_0_32"/>
          <p:cNvSpPr txBox="1"/>
          <p:nvPr>
            <p:ph idx="1" type="body"/>
          </p:nvPr>
        </p:nvSpPr>
        <p:spPr>
          <a:xfrm>
            <a:off x="7327675" y="1690825"/>
            <a:ext cx="4334100" cy="38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</a:t>
            </a:r>
            <a:r>
              <a:rPr b="1" lang="pt-BR" sz="2000">
                <a:highlight>
                  <a:schemeClr val="lt1"/>
                </a:highlight>
              </a:rPr>
              <a:t>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Enviar pedido para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Vendedor solicita envio do produto a empresa de correspondências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Enviar o p</a:t>
            </a:r>
            <a:r>
              <a:rPr lang="pt-BR" sz="2000">
                <a:highlight>
                  <a:schemeClr val="lt1"/>
                </a:highlight>
              </a:rPr>
              <a:t>roduto</a:t>
            </a:r>
            <a:r>
              <a:rPr lang="pt-BR" sz="2000">
                <a:highlight>
                  <a:schemeClr val="lt1"/>
                </a:highlight>
              </a:rPr>
              <a:t> para 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Vendedor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pedido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constar pedido como “pagamento confirmado”, o produto não será enviado.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status do pedido para “enviado”.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10" name="Google Shape;110;gd2a4ffa960_0_3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11" name="Google Shape;111;gd2a4ffa960_0_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d2a4ffa960_0_38"/>
          <p:cNvSpPr txBox="1"/>
          <p:nvPr>
            <p:ph idx="1" type="body"/>
          </p:nvPr>
        </p:nvSpPr>
        <p:spPr>
          <a:xfrm>
            <a:off x="7327675" y="1690825"/>
            <a:ext cx="4334100" cy="35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Enviar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Empresa de correspondências informa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Rastrear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código de rastreio recebido da empresa de </a:t>
            </a:r>
            <a:r>
              <a:rPr lang="pt-BR" sz="2000">
                <a:highlight>
                  <a:schemeClr val="lt1"/>
                </a:highlight>
              </a:rPr>
              <a:t>correspondências e guarda em pedido.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</a:t>
            </a:r>
            <a:r>
              <a:rPr lang="pt-BR" sz="2000">
                <a:highlight>
                  <a:schemeClr val="lt1"/>
                </a:highlight>
              </a:rPr>
              <a:t>nforma o código de rastreio do pedido ao cliente.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pedido para “enviado”.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17" name="Google Shape;117;gd2a4ffa960_0_3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18" name="Google Shape;118;gd2a4ffa960_0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d6d86abc89_0_1"/>
          <p:cNvSpPr txBox="1"/>
          <p:nvPr>
            <p:ph idx="1" type="body"/>
          </p:nvPr>
        </p:nvSpPr>
        <p:spPr>
          <a:xfrm>
            <a:off x="7327675" y="1690825"/>
            <a:ext cx="4334100" cy="39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Finalizar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Empresa de correspondências informa status da entrega do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Finalizar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status da entrega do pedido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o status recebido da empresa de correspondências não for “entregue”, o status do pedido não é atualizado.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O status do pedido é atualizado para “entregue”.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24" name="Google Shape;124;gd6d86abc89_0_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25" name="Google Shape;125;gd6d86abc89_0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c56d62285f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31" name="Google Shape;131;gc56d62285f_0_0"/>
          <p:cNvSpPr txBox="1"/>
          <p:nvPr>
            <p:ph idx="1" type="body"/>
          </p:nvPr>
        </p:nvSpPr>
        <p:spPr>
          <a:xfrm>
            <a:off x="7346650" y="1690825"/>
            <a:ext cx="4334100" cy="4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solicitação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faz solicitação de suporte.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Analisar solicitações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e </a:t>
            </a:r>
            <a:r>
              <a:rPr lang="pt-BR" sz="2000">
                <a:highlight>
                  <a:schemeClr val="lt1"/>
                </a:highlight>
              </a:rPr>
              <a:t>guarda</a:t>
            </a:r>
            <a:r>
              <a:rPr lang="pt-BR" sz="2000">
                <a:highlight>
                  <a:schemeClr val="lt1"/>
                </a:highlight>
              </a:rPr>
              <a:t> o chamado do cliente em chamado.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número do chamado ao cliente.</a:t>
            </a:r>
            <a:endParaRPr sz="2000"/>
          </a:p>
        </p:txBody>
      </p:sp>
      <p:pic>
        <p:nvPicPr>
          <p:cNvPr id="132" name="Google Shape;132;gc56d62285f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050" y="1690825"/>
            <a:ext cx="7043600" cy="294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c925418432_0_1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38" name="Google Shape;138;gc925418432_0_12"/>
          <p:cNvSpPr txBox="1"/>
          <p:nvPr>
            <p:ph idx="1" type="body"/>
          </p:nvPr>
        </p:nvSpPr>
        <p:spPr>
          <a:xfrm>
            <a:off x="7346650" y="1690825"/>
            <a:ext cx="44337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 o problema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envia resposta do chamado e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Tratar 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chamado e produto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bri"/>
              <a:buChar char="○"/>
            </a:pP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1"/>
                  </a:ext>
                </a:extLst>
              </a:rPr>
              <a:t>Se o defeito foi causado por mau uso</a:t>
            </a:r>
            <a:r>
              <a:rPr lang="pt-BR" sz="2000">
                <a:highlight>
                  <a:schemeClr val="lt1"/>
                </a:highlight>
              </a:rPr>
              <a:t> ou </a:t>
            </a:r>
            <a:r>
              <a:rPr lang="pt-BR" sz="2000">
                <a:highlight>
                  <a:schemeClr val="lt1"/>
                </a:highlight>
              </a:rPr>
              <a:t>o cliente comprou um equipamento que não atende o seu uso e reportar como um defeito</a:t>
            </a:r>
            <a:r>
              <a:rPr lang="pt-BR" sz="2000">
                <a:highlight>
                  <a:schemeClr val="lt1"/>
                </a:highlight>
              </a:rPr>
              <a:t>, </a:t>
            </a:r>
            <a:r>
              <a:rPr lang="pt-BR" sz="2000">
                <a:highlight>
                  <a:schemeClr val="lt1"/>
                </a:highlight>
              </a:rPr>
              <a:t>a solicitação será recusada.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prazo ao </a:t>
            </a:r>
            <a:r>
              <a:rPr lang="pt-BR" sz="2000">
                <a:highlight>
                  <a:schemeClr val="lt1"/>
                </a:highlight>
              </a:rPr>
              <a:t>cliente.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39" name="Google Shape;139;gc925418432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050" y="1690825"/>
            <a:ext cx="7043600" cy="294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ce01f6a808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rgbClr val="FF9900"/>
              </a:highlight>
            </a:endParaRPr>
          </a:p>
        </p:txBody>
      </p:sp>
      <p:sp>
        <p:nvSpPr>
          <p:cNvPr id="145" name="Google Shape;145;gce01f6a808_0_0"/>
          <p:cNvSpPr txBox="1"/>
          <p:nvPr>
            <p:ph idx="1" type="body"/>
          </p:nvPr>
        </p:nvSpPr>
        <p:spPr>
          <a:xfrm>
            <a:off x="7346925" y="1690825"/>
            <a:ext cx="4334100" cy="274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Realizar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Atendente informa prazo de solução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Informar o cliente sobre o prazo de solução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produto do cliente em produto.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a manutenção do cliente em manutenção.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46" name="Google Shape;146;gce01f6a808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050" y="1690825"/>
            <a:ext cx="7043600" cy="294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c925418432_0_1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2" name="Google Shape;152;gc925418432_0_18"/>
          <p:cNvSpPr txBox="1"/>
          <p:nvPr>
            <p:ph idx="1" type="body"/>
          </p:nvPr>
        </p:nvSpPr>
        <p:spPr>
          <a:xfrm>
            <a:off x="7346650" y="1686300"/>
            <a:ext cx="4334100" cy="3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Atualizar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Cliente faz solicitação do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Informar o cliente sobre o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andamento da manutenção.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</a:t>
            </a:r>
            <a:r>
              <a:rPr lang="pt-BR" sz="2000">
                <a:highlight>
                  <a:schemeClr val="lt1"/>
                </a:highlight>
              </a:rPr>
              <a:t>tualiza o status do chamado.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status de chamado ao cliente.</a:t>
            </a:r>
            <a:endParaRPr sz="2000">
              <a:highlight>
                <a:schemeClr val="lt1"/>
              </a:highlight>
            </a:endParaRPr>
          </a:p>
          <a:p>
            <a:pPr indent="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</p:txBody>
      </p:sp>
      <p:pic>
        <p:nvPicPr>
          <p:cNvPr id="153" name="Google Shape;153;gc925418432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050" y="1690825"/>
            <a:ext cx="7043600" cy="294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d2b4982aba_0_4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9" name="Google Shape;159;gd2b4982aba_0_41"/>
          <p:cNvSpPr txBox="1"/>
          <p:nvPr>
            <p:ph idx="1" type="body"/>
          </p:nvPr>
        </p:nvSpPr>
        <p:spPr>
          <a:xfrm>
            <a:off x="7346650" y="1686300"/>
            <a:ext cx="4334100" cy="274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Devolver o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Atendente devolve o produto consertado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Devolução do produto consertado ao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chamado para “encerrado”.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Devolve o produto consertado ao cliente.</a:t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60" name="Google Shape;160;gd2b4982aba_0_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050" y="1690825"/>
            <a:ext cx="7043600" cy="294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c63a4fde34_0_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</a:t>
            </a:r>
            <a:r>
              <a:rPr lang="pt-BR"/>
              <a:t>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67" name="Google Shape;167;gc63a4fde34_0_5"/>
          <p:cNvSpPr txBox="1"/>
          <p:nvPr/>
        </p:nvSpPr>
        <p:spPr>
          <a:xfrm>
            <a:off x="8039100" y="1690825"/>
            <a:ext cx="3771300" cy="44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Receber solicitação de devolução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Cliente faz solicitação de devolução e devolve produto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a solicitação de devolução recebida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produto enviado e o pedido do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o produto possuir mais de sete dias de uso, o atendente informa ao cliente que a solicitação foi recusada.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o número do chamado ao cliente.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68" name="Google Shape;168;gc63a4fde34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cce74347ab_0_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75" name="Google Shape;175;gcce74347ab_0_4"/>
          <p:cNvSpPr txBox="1"/>
          <p:nvPr/>
        </p:nvSpPr>
        <p:spPr>
          <a:xfrm>
            <a:off x="8039100" y="1690825"/>
            <a:ext cx="3485100" cy="41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Devolver valor do produto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Atendente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envia status do chamado e recibo para devolução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Enviar status do chamado e recibo de devolução ao cliente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chamado do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ao cliente o status do chamado e o recibo de devolução para assinatura.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gcce74347ab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cce74347ab_0_1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83" name="Google Shape;183;gcce74347ab_0_10"/>
          <p:cNvSpPr txBox="1"/>
          <p:nvPr/>
        </p:nvSpPr>
        <p:spPr>
          <a:xfrm>
            <a:off x="8039100" y="1690825"/>
            <a:ext cx="3900900" cy="43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Finalizar Devolução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Cliente envia recibo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Restituir o valor do produto ao cliente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recibo de devolução recebido do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o recibo não estiver assinado, a devolução é recusada.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valor do produto.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Retira 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lançamento o valor de devolução ao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Atualiza o status do chamado para “encerrado”.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gcce74347ab_0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c56d62285f_0_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sz="3100">
              <a:highlight>
                <a:schemeClr val="lt1"/>
              </a:highlight>
            </a:endParaRPr>
          </a:p>
        </p:txBody>
      </p:sp>
      <p:sp>
        <p:nvSpPr>
          <p:cNvPr id="190" name="Google Shape;190;gc56d62285f_0_6"/>
          <p:cNvSpPr txBox="1"/>
          <p:nvPr/>
        </p:nvSpPr>
        <p:spPr>
          <a:xfrm>
            <a:off x="7205050" y="1690825"/>
            <a:ext cx="42582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Gerente faz solicitação de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Adquirir novas mercadorias para aquisição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2"/>
                  </a:ext>
                </a:extLst>
              </a:rPr>
              <a:t>Envolvidos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os fornecedores cadastrados.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91" name="Google Shape;191;gc56d62285f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c63a4fde34_0_3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97" name="Google Shape;197;gc63a4fde34_0_30"/>
          <p:cNvSpPr txBox="1"/>
          <p:nvPr/>
        </p:nvSpPr>
        <p:spPr>
          <a:xfrm>
            <a:off x="7205050" y="1690825"/>
            <a:ext cx="4114800" cy="3268200"/>
          </a:xfrm>
          <a:prstGeom prst="rect">
            <a:avLst/>
          </a:prstGeom>
          <a:noFill/>
          <a:ln cap="flat" cmpd="sng" w="9525">
            <a:solidFill>
              <a:srgbClr val="F1C2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Analisar orçamento dos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Fornecedor envia orçamento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orçamento do pedido enviado e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3"/>
                  </a:ext>
                </a:extLst>
              </a:rPr>
              <a:t>Envolvidos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se há saldo em lançamento disponível para compra dos produtos.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não há saldo suficiente para compra de produtos, o orçamento, será recusado.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gc63a4fde34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d2b4982aba_0_66"/>
          <p:cNvSpPr txBox="1"/>
          <p:nvPr>
            <p:ph idx="1" type="body"/>
          </p:nvPr>
        </p:nvSpPr>
        <p:spPr>
          <a:xfrm>
            <a:off x="7205050" y="1767025"/>
            <a:ext cx="4624500" cy="258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Pagar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Gerente realiza pagamento dos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Pagar as mercadorias adquiridas ao fornecedor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Retira do lançamento o valor necessário para pagamento dos produtos.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04" name="Google Shape;204;gd2b4982aba_0_6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05" name="Google Shape;205;gd2b4982aba_0_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2b4982aba_0_85"/>
          <p:cNvSpPr txBox="1"/>
          <p:nvPr>
            <p:ph idx="1" type="body"/>
          </p:nvPr>
        </p:nvSpPr>
        <p:spPr>
          <a:xfrm>
            <a:off x="7205050" y="1767025"/>
            <a:ext cx="4334100" cy="35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Pr</a:t>
            </a:r>
            <a:r>
              <a:rPr b="1" lang="pt-BR" sz="2000">
                <a:highlight>
                  <a:schemeClr val="lt1"/>
                </a:highlight>
              </a:rPr>
              <a:t>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Receber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Fornecedor envia comprovante de pagamento, nota fiscal e os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Receber os produtos adquiridos do fornecedor.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Recebe o comprovante de pagamento, nota fiscal e os produtos adquiridos do fornecedor.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comprovante de pagamento e nota fiscal em via de operação.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os produtos novos adquiridos em produto.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11" name="Google Shape;211;gd2b4982aba_0_8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12" name="Google Shape;212;gd2b4982aba_0_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cce74347ab_0_29"/>
          <p:cNvSpPr txBox="1"/>
          <p:nvPr>
            <p:ph type="title"/>
          </p:nvPr>
        </p:nvSpPr>
        <p:spPr>
          <a:xfrm>
            <a:off x="838200" y="365125"/>
            <a:ext cx="107742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219" name="Google Shape;219;gcce74347ab_0_29"/>
          <p:cNvSpPr txBox="1"/>
          <p:nvPr/>
        </p:nvSpPr>
        <p:spPr>
          <a:xfrm>
            <a:off x="8643575" y="1062300"/>
            <a:ext cx="3500400" cy="30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serviço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Gerente envia produto e solicita serviço de manutenção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Terceirizar o suporte que não pode ser atendido pela GamaWare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184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se há fornecedores para realizar a manutenção.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cce74347ab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d2b4982aba_0_115"/>
          <p:cNvSpPr txBox="1"/>
          <p:nvPr>
            <p:ph idx="1" type="body"/>
          </p:nvPr>
        </p:nvSpPr>
        <p:spPr>
          <a:xfrm>
            <a:off x="8396925" y="1711525"/>
            <a:ext cx="3663300" cy="50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orçamento da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Terceiro envia orçamento e prazo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Verificar orçamento e prazo da manutenção.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</a:t>
            </a:r>
            <a:r>
              <a:rPr lang="pt-BR" sz="2000">
                <a:highlight>
                  <a:schemeClr val="lt1"/>
                </a:highlight>
              </a:rPr>
              <a:t> se há saldo em lançamento disponível para terceirizar a manutenção.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há saldo suficiente para manutenção de produtos, o orçamento será recusado.</a:t>
            </a:r>
            <a:endParaRPr sz="2000">
              <a:highlight>
                <a:schemeClr val="lt1"/>
              </a:highlight>
            </a:endParaRPr>
          </a:p>
          <a:p>
            <a:pPr indent="-2184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Guarda as informações da manutenção solicitada em manutenção.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Envia o produto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26" name="Google Shape;226;gd2b4982aba_0_11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27" name="Google Shape;227;gd2b4982aba_0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d2b4982aba_0_109"/>
          <p:cNvSpPr txBox="1"/>
          <p:nvPr>
            <p:ph idx="1" type="body"/>
          </p:nvPr>
        </p:nvSpPr>
        <p:spPr>
          <a:xfrm>
            <a:off x="8643575" y="1711525"/>
            <a:ext cx="3335100" cy="37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Terceiro envia produto manutenido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Analisar o produto recebido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produto recebido do terceiro e guarda o produto em produto ou </a:t>
            </a:r>
            <a:r>
              <a:rPr lang="pt-BR" sz="2000"/>
              <a:t>atualiza as informações se necessário</a:t>
            </a:r>
            <a:r>
              <a:rPr lang="pt-BR" sz="2000">
                <a:highlight>
                  <a:schemeClr val="lt1"/>
                </a:highlight>
              </a:rPr>
              <a:t>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da manutenção para “finalizado”.</a:t>
            </a:r>
            <a:endParaRPr sz="2000">
              <a:highlight>
                <a:schemeClr val="lt1"/>
              </a:highlight>
            </a:endParaRPr>
          </a:p>
          <a:p>
            <a:pPr indent="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</p:txBody>
      </p:sp>
      <p:sp>
        <p:nvSpPr>
          <p:cNvPr id="233" name="Google Shape;233;gd2b4982aba_0_10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34" name="Google Shape;234;gd2b4982aba_0_1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cce74347ab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/>
          </a:p>
        </p:txBody>
      </p:sp>
      <p:sp>
        <p:nvSpPr>
          <p:cNvPr id="241" name="Google Shape;241;gcce74347ab_0_17"/>
          <p:cNvSpPr txBox="1"/>
          <p:nvPr/>
        </p:nvSpPr>
        <p:spPr>
          <a:xfrm>
            <a:off x="8643575" y="1711525"/>
            <a:ext cx="3497100" cy="3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Realizar pagamento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 realiza pagamento da manutenção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Realizar o pagamento da manutenção ao terceiro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valor final da manutenção realizada pelo terceiro.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Retira do lançamento o valor necessário para pagamento.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Realiza pagamento.</a:t>
            </a:r>
            <a:endParaRPr sz="2000"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gcce74347ab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c63a4fde34_0_3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				</a:t>
            </a:r>
            <a:endParaRPr b="1"/>
          </a:p>
        </p:txBody>
      </p:sp>
      <p:sp>
        <p:nvSpPr>
          <p:cNvPr id="249" name="Google Shape;249;gc63a4fde34_0_36"/>
          <p:cNvSpPr txBox="1"/>
          <p:nvPr/>
        </p:nvSpPr>
        <p:spPr>
          <a:xfrm>
            <a:off x="8643575" y="1682825"/>
            <a:ext cx="33474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Receber comprovante de pagamento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Terceiro envia comprovante de pagamento e nota fiscal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 Receber comprovante de pagamento e nota fiscal dos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Recebe o comprovante de pagamento e nota fiscal do terceiro guarda em via de operação.</a:t>
            </a:r>
            <a:endParaRPr b="1"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Google Shape;250;gc63a4fde34_0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