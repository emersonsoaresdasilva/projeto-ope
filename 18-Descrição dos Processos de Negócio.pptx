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http://customooxmlschemas.google.com/">
      <go:slidesCustomData xmlns:go="http://customooxmlschemas.google.com/" r:id="rId29" roundtripDataSignature="AMtx7miYKTaxPIhM/u2qRsj7kFL08fR3f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customschemas.google.com/relationships/presentationmetadata" Target="meta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dd460f266a_0_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gdd460f266a_0_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c98e0c4ace_3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3" name="Google Shape;93;gc98e0c4ace_3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c98e0c4ace_0_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0" name="Google Shape;100;gc98e0c4ace_0_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d2a4ffa960_0_3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7" name="Google Shape;107;gd2a4ffa960_0_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d2a4ffa960_0_3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4" name="Google Shape;114;gd2a4ffa960_0_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d6d86abc89_0_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1" name="Google Shape;121;gd6d86abc89_0_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dd036a438b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8" name="Google Shape;128;gdd036a438b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c56d62285f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5" name="Google Shape;135;gc56d62285f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c925418432_0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2" name="Google Shape;142;gc925418432_0_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ce01f6a808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9" name="Google Shape;149;gce01f6a808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c925418432_0_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6" name="Google Shape;156;gc925418432_0_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d2b4982aba_0_4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3" name="Google Shape;163;gd2b4982aba_0_4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c63a4fde34_0_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0" name="Google Shape;170;gc63a4fde34_0_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1" name="Google Shape;171;gc63a4fde34_0_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cce74347ab_0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8" name="Google Shape;178;gcce74347ab_0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9" name="Google Shape;179;gcce74347ab_0_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cce74347ab_0_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6" name="Google Shape;186;gcce74347ab_0_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7" name="Google Shape;187;gcce74347ab_0_1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c56d62285f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4" name="Google Shape;194;gc56d62285f_0_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c63a4fde34_0_3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1" name="Google Shape;201;gc63a4fde34_0_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d2b4982aba_0_6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8" name="Google Shape;208;gd2b4982aba_0_6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d2b4982aba_0_8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5" name="Google Shape;215;gd2b4982aba_0_8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cce74347ab_0_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gcce74347ab_0_2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3" name="Google Shape;223;gcce74347ab_0_2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d2b4982aba_0_1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0" name="Google Shape;230;gd2b4982aba_0_1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d2b4982aba_0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7" name="Google Shape;237;gd2b4982aba_0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cce74347ab_0_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gcce74347ab_0_1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5" name="Google Shape;245;gcce74347ab_0_1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c63a4fde34_0_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gc63a4fde34_0_3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3" name="Google Shape;253;gc63a4fde34_0_3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4" name="Google Shape;24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dd460f266a_0_1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rgbClr val="FF0000"/>
              </a:highlight>
            </a:endParaRPr>
          </a:p>
        </p:txBody>
      </p:sp>
      <p:sp>
        <p:nvSpPr>
          <p:cNvPr id="89" name="Google Shape;89;gdd460f266a_0_1"/>
          <p:cNvSpPr txBox="1"/>
          <p:nvPr>
            <p:ph idx="1" type="body"/>
          </p:nvPr>
        </p:nvSpPr>
        <p:spPr>
          <a:xfrm>
            <a:off x="7327675" y="1690825"/>
            <a:ext cx="4334100" cy="38925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Receber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/>
              <a:t>Cliente faz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Verificar o pedido do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292100" lvl="0" marL="457200" rtl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1000"/>
              <a:buChar char="●"/>
            </a:pPr>
            <a:r>
              <a:rPr lang="pt-BR" sz="2000"/>
              <a:t>Verifica se o produto de venda está disponível.</a:t>
            </a:r>
            <a:endParaRPr sz="2000"/>
          </a:p>
          <a:p>
            <a:pPr indent="-311150" lvl="1" marL="9144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</a:pPr>
            <a:r>
              <a:rPr lang="pt-BR" sz="2000"/>
              <a:t>Se não estiver disponível, o pedido é recusado.</a:t>
            </a:r>
            <a:endParaRPr sz="2000"/>
          </a:p>
          <a:p>
            <a:pPr indent="-292100" lvl="0" marL="4572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pt-BR" sz="2000">
                <a:highlight>
                  <a:schemeClr val="lt1"/>
                </a:highlight>
              </a:rPr>
              <a:t>Solicita os dados de cadastro do cliente. </a:t>
            </a:r>
            <a:endParaRPr sz="2000">
              <a:highlight>
                <a:schemeClr val="lt1"/>
              </a:highlight>
            </a:endParaRPr>
          </a:p>
          <a:p>
            <a:pPr indent="-292100" lvl="0" marL="4572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pt-BR" sz="2000">
                <a:highlight>
                  <a:schemeClr val="lt1"/>
                </a:highlight>
              </a:rPr>
              <a:t>Guarda o pedido em pedido.</a:t>
            </a:r>
            <a:endParaRPr sz="2000"/>
          </a:p>
          <a:p>
            <a:pPr indent="-292100" lvl="0" marL="4572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pt-BR" sz="2000"/>
              <a:t>Informa valor do pedido e taxa de entrega.</a:t>
            </a:r>
            <a:endParaRPr sz="2000"/>
          </a:p>
        </p:txBody>
      </p:sp>
      <p:pic>
        <p:nvPicPr>
          <p:cNvPr id="90" name="Google Shape;90;gdd460f266a_0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1457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c98e0c4ace_3_0"/>
          <p:cNvSpPr txBox="1"/>
          <p:nvPr>
            <p:ph idx="1" type="body"/>
          </p:nvPr>
        </p:nvSpPr>
        <p:spPr>
          <a:xfrm>
            <a:off x="7327675" y="1690825"/>
            <a:ext cx="4334100" cy="40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Receber cartão + senha 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/>
              <a:t>Cliente informa detalhes de cadastro, cartão e senha</a:t>
            </a:r>
            <a:endParaRPr sz="2000"/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Tratar o processo de pagamento do pedido</a:t>
            </a:r>
            <a:endParaRPr sz="2000"/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  <a:extLst>
                  <a:ext uri="http://customooxmlschemas.google.com/">
                    <go:slidesCustomData xmlns:go="http://customooxmlschemas.google.com/" textRoundtripDataId="0"/>
                  </a:ext>
                </a:extLst>
              </a:rPr>
              <a:t>Vendedor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228600" lvl="0" marL="2286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os detalhes de cadastro do cliente.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pt-BR" sz="2000"/>
              <a:t>Se as informações do cliente não existirem, então elas são guardadas em Cliente, caso contrário atualiza as informações se necessário.</a:t>
            </a:r>
            <a:endParaRPr sz="2000">
              <a:highlight>
                <a:schemeClr val="lt1"/>
              </a:highlight>
            </a:endParaRPr>
          </a:p>
          <a:p>
            <a:pPr indent="-228600" lvl="0" marL="2286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Envia a solicitação de crédito ou débito ao provedor de cartões.</a:t>
            </a:r>
            <a:endParaRPr sz="2000">
              <a:highlight>
                <a:schemeClr val="lt1"/>
              </a:highlight>
            </a:endParaRPr>
          </a:p>
          <a:p>
            <a:pPr indent="-228600" lvl="0" marL="2286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</a:t>
            </a:r>
            <a:r>
              <a:rPr lang="pt-BR" sz="2000">
                <a:highlight>
                  <a:schemeClr val="lt1"/>
                </a:highlight>
              </a:rPr>
              <a:t> o status do pedido do cliente em pedido.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96" name="Google Shape;96;gc98e0c4ace_3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 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97" name="Google Shape;97;gc98e0c4ace_3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1457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c98e0c4ace_0_7"/>
          <p:cNvSpPr txBox="1"/>
          <p:nvPr>
            <p:ph idx="1" type="body"/>
          </p:nvPr>
        </p:nvSpPr>
        <p:spPr>
          <a:xfrm>
            <a:off x="7327675" y="1690825"/>
            <a:ext cx="4530000" cy="43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Analisar Resposta da Transação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Provedor de cartões envia resposta da transação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Informar ao cliente se a transação será aprovada ou recusada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-228600" lvl="0" marL="228600" rtl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a resposta da transação do pedido em status do pedido.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não houver limite suficiente, informa ao cliente a transação foi recusada.</a:t>
            </a:r>
            <a:endParaRPr sz="2000">
              <a:highlight>
                <a:schemeClr val="lt1"/>
              </a:highlight>
            </a:endParaRPr>
          </a:p>
          <a:p>
            <a:pPr indent="-228600" lvl="0" marL="228600" rtl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o status do pedido do cliente para “pagamento confirmado”.</a:t>
            </a:r>
            <a:endParaRPr sz="2000">
              <a:highlight>
                <a:schemeClr val="lt1"/>
              </a:highlight>
            </a:endParaRPr>
          </a:p>
          <a:p>
            <a:pPr indent="-228600" lvl="0" marL="228600" rtl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Guarda a via da operação em via operação.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03" name="Google Shape;103;gc98e0c4ace_0_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rgbClr val="FF0000"/>
              </a:highlight>
            </a:endParaRPr>
          </a:p>
        </p:txBody>
      </p:sp>
      <p:pic>
        <p:nvPicPr>
          <p:cNvPr id="104" name="Google Shape;104;gc98e0c4ace_0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1457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d2a4ffa960_0_32"/>
          <p:cNvSpPr txBox="1"/>
          <p:nvPr>
            <p:ph idx="1" type="body"/>
          </p:nvPr>
        </p:nvSpPr>
        <p:spPr>
          <a:xfrm>
            <a:off x="7327675" y="1690825"/>
            <a:ext cx="4334100" cy="3138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/>
              <a:t>P</a:t>
            </a:r>
            <a:r>
              <a:rPr b="1" lang="pt-BR" sz="2000">
                <a:highlight>
                  <a:schemeClr val="lt1"/>
                </a:highlight>
              </a:rPr>
              <a:t>rocesso</a:t>
            </a:r>
            <a:r>
              <a:rPr lang="pt-BR" sz="2000">
                <a:highlight>
                  <a:schemeClr val="lt1"/>
                </a:highlight>
              </a:rPr>
              <a:t>: Enviar pedido para postagem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Vendedor solicita envio do produto a empresa de correspondências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Enviar o produto para postagem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/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status do pedido para “enviado”.</a:t>
            </a:r>
            <a:endParaRPr/>
          </a:p>
          <a:p>
            <a:pPr indent="-355600" lvl="1" marL="914400" rtl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não constar pedido como “pagamento confirmado”, o produto não será enviado.</a:t>
            </a:r>
            <a:endParaRPr/>
          </a:p>
          <a:p>
            <a:pPr indent="0" lvl="0" marL="1016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pt-BR" sz="2000">
                <a:highlight>
                  <a:schemeClr val="lt1"/>
                </a:highlight>
              </a:rPr>
              <a:t>	</a:t>
            </a:r>
            <a:endParaRPr/>
          </a:p>
          <a:p>
            <a:pPr indent="0" lvl="0" marL="1016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10" name="Google Shape;110;gd2a4ffa960_0_32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111" name="Google Shape;111;gd2a4ffa960_0_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1457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d2a4ffa960_0_38"/>
          <p:cNvSpPr txBox="1"/>
          <p:nvPr>
            <p:ph idx="1" type="body"/>
          </p:nvPr>
        </p:nvSpPr>
        <p:spPr>
          <a:xfrm>
            <a:off x="7327675" y="1690825"/>
            <a:ext cx="4334100" cy="35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Enviar código de rastreio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Empresa de correspondências informa código de rastreio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Rastrear o pedido do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Recebe o código de rastreio da empresa de correspondências e guarda em pedido.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Informa o código de rastreio do pedido ao cliente.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o status do pedido para “a caminho”.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17" name="Google Shape;117;gd2a4ffa960_0_3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118" name="Google Shape;118;gd2a4ffa960_0_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1457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d6d86abc89_0_1"/>
          <p:cNvSpPr txBox="1"/>
          <p:nvPr>
            <p:ph idx="1" type="body"/>
          </p:nvPr>
        </p:nvSpPr>
        <p:spPr>
          <a:xfrm>
            <a:off x="7327675" y="1690825"/>
            <a:ext cx="4334100" cy="498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Acompanhar status da entrega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Vendedor solicita status sobre a entrega do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Acompanhar status da entrega do pedido do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os detalhes de cadastro do cliente.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pt-BR" sz="2000"/>
              <a:t>Se o cliente não realizou o pedido, a solicitação de status sobre a entrega do pedido não é enviada.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status do pedido do cliente.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o status do pedido do cliente não for entregue, a solicitação é enviada.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Envia a solicitação de status sobre a entrega do pedido do cliente à empresa de correspondências.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24" name="Google Shape;124;gd6d86abc89_0_1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125" name="Google Shape;125;gd6d86abc89_0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1457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dd036a438b_0_0"/>
          <p:cNvSpPr txBox="1"/>
          <p:nvPr>
            <p:ph idx="1" type="body"/>
          </p:nvPr>
        </p:nvSpPr>
        <p:spPr>
          <a:xfrm>
            <a:off x="7327675" y="1690825"/>
            <a:ext cx="4334100" cy="39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Atualizar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Empresa de correspondências informa status da entrega do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Atualizar o pedido do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O status do pedido do cliente é atualizado.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31" name="Google Shape;131;gdd036a438b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rgbClr val="FF0000"/>
              </a:highlight>
            </a:endParaRPr>
          </a:p>
        </p:txBody>
      </p:sp>
      <p:pic>
        <p:nvPicPr>
          <p:cNvPr id="132" name="Google Shape;132;gdd036a438b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1457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c56d62285f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>
                <a:highlight>
                  <a:schemeClr val="lt1"/>
                </a:highlight>
                <a:extLst>
                  <a:ext uri="http://customooxmlschemas.google.com/">
                    <go:slidesCustomData xmlns:go="http://customooxmlschemas.google.com/" textRoundtripDataId="1"/>
                  </a:ext>
                </a:extLst>
              </a:rPr>
              <a:t>Capacidade: </a:t>
            </a:r>
            <a:r>
              <a:rPr b="1" lang="pt-BR">
                <a:highlight>
                  <a:schemeClr val="lt1"/>
                </a:highlight>
                <a:extLst>
                  <a:ext uri="http://customooxmlschemas.google.com/">
                    <go:slidesCustomData xmlns:go="http://customooxmlschemas.google.com/" textRoundtripDataId="2"/>
                  </a:ext>
                </a:extLst>
              </a:rPr>
              <a:t>Atender Solicitação de Suporte</a:t>
            </a:r>
            <a:r>
              <a:rPr b="1" lang="pt-BR">
                <a:highlight>
                  <a:srgbClr val="FF0000"/>
                </a:highlight>
              </a:rPr>
              <a:t> </a:t>
            </a:r>
            <a:endParaRPr>
              <a:highlight>
                <a:srgbClr val="FF0000"/>
              </a:highlight>
            </a:endParaRPr>
          </a:p>
        </p:txBody>
      </p:sp>
      <p:sp>
        <p:nvSpPr>
          <p:cNvPr id="138" name="Google Shape;138;gc56d62285f_0_0"/>
          <p:cNvSpPr txBox="1"/>
          <p:nvPr>
            <p:ph idx="1" type="body"/>
          </p:nvPr>
        </p:nvSpPr>
        <p:spPr>
          <a:xfrm>
            <a:off x="7346650" y="1690825"/>
            <a:ext cx="4334100" cy="476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Receber solicitação de suporte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Cliente faz solicitação de suporte.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</a:t>
            </a:r>
            <a:r>
              <a:rPr lang="pt-BR" sz="2000">
                <a:highlight>
                  <a:schemeClr val="lt1"/>
                </a:highlight>
              </a:rPr>
              <a:t>Analisar solicitações de suporte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Ao receber a solicitação de suporte, o atendente verifica o problema descrito e </a:t>
            </a:r>
            <a:r>
              <a:rPr lang="pt-BR" sz="2000">
                <a:highlight>
                  <a:schemeClr val="lt1"/>
                </a:highlight>
              </a:rPr>
              <a:t>armazena a solicitação em chamado.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o produto possuir mais do que noventa dias após o recebimento, o atendente informa a recusa do chamado.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Informa o número do chamado ao cliente.</a:t>
            </a:r>
            <a:endParaRPr sz="2000">
              <a:highlight>
                <a:schemeClr val="lt1"/>
              </a:highlight>
            </a:endParaRPr>
          </a:p>
        </p:txBody>
      </p:sp>
      <p:pic>
        <p:nvPicPr>
          <p:cNvPr id="139" name="Google Shape;139;gc56d62285f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52025" y="1690825"/>
            <a:ext cx="4581525" cy="3829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c925418432_0_12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>
                <a:highlight>
                  <a:schemeClr val="lt1"/>
                </a:highlight>
              </a:rPr>
              <a:t>Capacidade: </a:t>
            </a:r>
            <a:r>
              <a:rPr b="1" lang="pt-BR">
                <a:highlight>
                  <a:schemeClr val="lt1"/>
                </a:highlight>
              </a:rPr>
              <a:t>Atender Solicitação de Suporte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45" name="Google Shape;145;gc925418432_0_12"/>
          <p:cNvSpPr txBox="1"/>
          <p:nvPr>
            <p:ph idx="1" type="body"/>
          </p:nvPr>
        </p:nvSpPr>
        <p:spPr>
          <a:xfrm>
            <a:off x="7346650" y="1690825"/>
            <a:ext cx="4433700" cy="45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Analisar o problema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Atendente informa testes e prazo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Informar testes e prazo ao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o problema descrito no chamado.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bri"/>
              <a:buChar char="○"/>
            </a:pPr>
            <a:r>
              <a:rPr lang="pt-BR" sz="2000">
                <a:highlight>
                  <a:schemeClr val="lt1"/>
                </a:highlight>
                <a:extLst>
                  <a:ext uri="http://customooxmlschemas.google.com/">
                    <go:slidesCustomData xmlns:go="http://customooxmlschemas.google.com/" textRoundtripDataId="3"/>
                  </a:ext>
                </a:extLst>
              </a:rPr>
              <a:t>Se o defeito foi causado por mau uso</a:t>
            </a:r>
            <a:r>
              <a:rPr lang="pt-BR" sz="2000">
                <a:highlight>
                  <a:schemeClr val="lt1"/>
                </a:highlight>
              </a:rPr>
              <a:t> ou o cliente comprou um equipamento que não atende o seu uso e reportar como um defeito, a solicitação será recusada e o status do chamado encerrado.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Auxilia o cliente a realizar os testes diagnósticos e atualiza o chamado de acordo com o resultado dos testes.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Informa testes e prazo.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</p:txBody>
      </p:sp>
      <p:pic>
        <p:nvPicPr>
          <p:cNvPr id="146" name="Google Shape;146;gc925418432_0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52025" y="1690825"/>
            <a:ext cx="4581525" cy="3829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ce01f6a808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>
                <a:highlight>
                  <a:schemeClr val="lt1"/>
                </a:highlight>
              </a:rPr>
              <a:t>Capacidade: </a:t>
            </a:r>
            <a:r>
              <a:rPr b="1" lang="pt-BR">
                <a:highlight>
                  <a:schemeClr val="lt1"/>
                </a:highlight>
              </a:rPr>
              <a:t>Realizar Manutenção</a:t>
            </a:r>
            <a:r>
              <a:rPr b="1" lang="pt-BR">
                <a:highlight>
                  <a:schemeClr val="lt1"/>
                </a:highlight>
              </a:rPr>
              <a:t>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52" name="Google Shape;152;gce01f6a808_0_0"/>
          <p:cNvSpPr txBox="1"/>
          <p:nvPr>
            <p:ph idx="1" type="body"/>
          </p:nvPr>
        </p:nvSpPr>
        <p:spPr>
          <a:xfrm>
            <a:off x="7346925" y="1690825"/>
            <a:ext cx="4334100" cy="368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Realizar Manutenção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Cliente envia confirmação da manutenção e o produto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</a:t>
            </a:r>
            <a:r>
              <a:rPr lang="pt-BR" sz="2000">
                <a:highlight>
                  <a:schemeClr val="lt1"/>
                </a:highlight>
              </a:rPr>
              <a:t>Realizar a manutenção no produto.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Técnico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</a:t>
            </a:r>
            <a:r>
              <a:rPr lang="pt-BR" sz="2000">
                <a:highlight>
                  <a:schemeClr val="lt1"/>
                </a:highlight>
              </a:rPr>
              <a:t>o produto do cliente em produto de manutenção.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Inicia a manutenção e guarda o status da manutenção “iniciada”.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400">
              <a:highlight>
                <a:schemeClr val="lt1"/>
              </a:highlight>
            </a:endParaRPr>
          </a:p>
        </p:txBody>
      </p:sp>
      <p:pic>
        <p:nvPicPr>
          <p:cNvPr id="153" name="Google Shape;153;gce01f6a808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1775" y="1690825"/>
            <a:ext cx="6267450" cy="392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c925418432_0_1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>
                <a:highlight>
                  <a:schemeClr val="lt1"/>
                </a:highlight>
              </a:rPr>
              <a:t>Capacidade: </a:t>
            </a:r>
            <a:r>
              <a:rPr b="1" lang="pt-BR">
                <a:highlight>
                  <a:schemeClr val="lt1"/>
                </a:highlight>
              </a:rPr>
              <a:t>Realizar Manutenção</a:t>
            </a:r>
            <a:r>
              <a:rPr b="1" lang="pt-BR">
                <a:highlight>
                  <a:schemeClr val="lt1"/>
                </a:highlight>
              </a:rPr>
              <a:t>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59" name="Google Shape;159;gc925418432_0_18"/>
          <p:cNvSpPr txBox="1"/>
          <p:nvPr>
            <p:ph idx="1" type="body"/>
          </p:nvPr>
        </p:nvSpPr>
        <p:spPr>
          <a:xfrm>
            <a:off x="7346650" y="1686300"/>
            <a:ext cx="4334100" cy="4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Informar status do chamado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Atendente informa status do chamado.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Informar ao cliente o status do chamado.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228600" lvl="0" marL="2286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Ao receber a solicitação de status do cliente, verifica o chamado e informa o status ao cliente.</a:t>
            </a:r>
            <a:endParaRPr sz="2000">
              <a:highlight>
                <a:schemeClr val="lt1"/>
              </a:highlight>
            </a:endParaRPr>
          </a:p>
          <a:p>
            <a:pPr indent="0" lvl="0" marL="4572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</p:txBody>
      </p:sp>
      <p:pic>
        <p:nvPicPr>
          <p:cNvPr id="160" name="Google Shape;160;gc925418432_0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1775" y="1690825"/>
            <a:ext cx="6267450" cy="392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d2b4982aba_0_41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>
                <a:highlight>
                  <a:schemeClr val="lt1"/>
                </a:highlight>
              </a:rPr>
              <a:t>Capacidade: </a:t>
            </a:r>
            <a:r>
              <a:rPr b="1" lang="pt-BR">
                <a:highlight>
                  <a:schemeClr val="lt1"/>
                </a:highlight>
              </a:rPr>
              <a:t>Realizar Manutenção</a:t>
            </a:r>
            <a:r>
              <a:rPr b="1" lang="pt-BR">
                <a:highlight>
                  <a:schemeClr val="lt1"/>
                </a:highlight>
              </a:rPr>
              <a:t>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66" name="Google Shape;166;gd2b4982aba_0_41"/>
          <p:cNvSpPr txBox="1"/>
          <p:nvPr>
            <p:ph idx="1" type="body"/>
          </p:nvPr>
        </p:nvSpPr>
        <p:spPr>
          <a:xfrm>
            <a:off x="7346650" y="1686300"/>
            <a:ext cx="4334100" cy="37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Devolver o produto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Atendente devolve o produto consertado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</a:t>
            </a:r>
            <a:r>
              <a:rPr lang="pt-BR" sz="2000">
                <a:highlight>
                  <a:schemeClr val="lt1"/>
                </a:highlight>
              </a:rPr>
              <a:t>Devolver o produto consertado ao cliente.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se a manutenção foi finalizada.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a manutenção não foi “encerrada”, o produto não é devolvido. 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Retira</a:t>
            </a:r>
            <a:r>
              <a:rPr lang="pt-BR" sz="2000">
                <a:highlight>
                  <a:schemeClr val="lt1"/>
                </a:highlight>
              </a:rPr>
              <a:t> o produto em produto manutenção e devolve ao cliente.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o status do chamado para “encerrado”.</a:t>
            </a:r>
            <a:endParaRPr sz="1400">
              <a:highlight>
                <a:schemeClr val="lt1"/>
              </a:highlight>
            </a:endParaRPr>
          </a:p>
        </p:txBody>
      </p:sp>
      <p:pic>
        <p:nvPicPr>
          <p:cNvPr id="167" name="Google Shape;167;gd2b4982aba_0_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1775" y="1690825"/>
            <a:ext cx="6267450" cy="392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c63a4fde34_0_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Capacidade: </a:t>
            </a:r>
            <a:r>
              <a:rPr b="1" lang="pt-BR"/>
              <a:t>Tratar Devoluções 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174" name="Google Shape;174;gc63a4fde34_0_5"/>
          <p:cNvSpPr txBox="1"/>
          <p:nvPr/>
        </p:nvSpPr>
        <p:spPr>
          <a:xfrm>
            <a:off x="8039100" y="1373100"/>
            <a:ext cx="3771300" cy="54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Receber solicitação de devolução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Cliente faz solicitação de devolução e devolve produto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Analisar a solicitação de devolução recebida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Atendente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●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 pedido do client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 e guarda o produto em produto de devolução e guarda a solicitação em chamado de devolução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1" marL="9144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○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Se pedido não existir ou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 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 produto possuir mais de sete dias de uso, o atendente informa ao cliente que a solicitação foi recusada.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●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Informa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 confirmação de devolução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2000" u="none" cap="none" strike="noStrike">
              <a:solidFill>
                <a:srgbClr val="000000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5" name="Google Shape;175;gc63a4fde34_0_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06100"/>
            <a:ext cx="7734301" cy="36457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cce74347ab_0_4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Capacidade: </a:t>
            </a:r>
            <a:r>
              <a:rPr b="1" lang="pt-BR"/>
              <a:t>Tratar Devoluções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182" name="Google Shape;182;gcce74347ab_0_4"/>
          <p:cNvSpPr txBox="1"/>
          <p:nvPr/>
        </p:nvSpPr>
        <p:spPr>
          <a:xfrm>
            <a:off x="8039100" y="1690825"/>
            <a:ext cx="3485100" cy="32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Devolver valor do produto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Atendente envia a confirmação de devolução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Enviar recibo de devolução ao cliente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Envolvido: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Atendente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Informa ao cliente a confirmação da devolução e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recibo de devolução para assinatura.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3" name="Google Shape;183;gcce74347ab_0_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06100"/>
            <a:ext cx="7734301" cy="36457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cce74347ab_0_1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Capacidade: </a:t>
            </a:r>
            <a:r>
              <a:rPr b="1" lang="pt-BR"/>
              <a:t>Tratar Devoluções 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190" name="Google Shape;190;gcce74347ab_0_10"/>
          <p:cNvSpPr txBox="1"/>
          <p:nvPr/>
        </p:nvSpPr>
        <p:spPr>
          <a:xfrm>
            <a:off x="8039100" y="1690825"/>
            <a:ext cx="3900900" cy="500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rocesso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Finalizar Devolução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Cliente envia recibo de devolução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Restituir o valor do produto ao cliente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 recibo de devolução recebido do cliente e guarda em chamado de devolução.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1" marL="9144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○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Se o recibo não estiver assinado, a devolução é recusada.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Retira do lançamento o valor total do produto de devolu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ção e devolve valor do produto ao cliente.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Atualiza o status do chamado de devolução para “encerrado”.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1" name="Google Shape;191;gcce74347ab_0_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06100"/>
            <a:ext cx="7734301" cy="36457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c56d62285f_0_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 </a:t>
            </a:r>
            <a:endParaRPr sz="3100">
              <a:highlight>
                <a:schemeClr val="lt1"/>
              </a:highlight>
            </a:endParaRPr>
          </a:p>
        </p:txBody>
      </p:sp>
      <p:sp>
        <p:nvSpPr>
          <p:cNvPr id="197" name="Google Shape;197;gc56d62285f_0_6"/>
          <p:cNvSpPr txBox="1"/>
          <p:nvPr/>
        </p:nvSpPr>
        <p:spPr>
          <a:xfrm>
            <a:off x="7205050" y="1690825"/>
            <a:ext cx="4258200" cy="3879000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Solicitar produtos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 faz solicitação de produtos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Adquirir novas mercadorias para aquisição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Trabalhadores </a:t>
            </a: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  <a:extLst>
                  <a:ext uri="http://customooxmlschemas.google.com/">
                    <go:slidesCustomData xmlns:go="http://customooxmlschemas.google.com/" textRoundtripDataId="4"/>
                  </a:ext>
                </a:extLst>
              </a:rPr>
              <a:t>Envolvidos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os fornecedores cadastrados.</a:t>
            </a:r>
            <a:endParaRPr/>
          </a:p>
          <a:p>
            <a:pPr indent="-355600" lvl="1" marL="9144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○"/>
            </a:pPr>
            <a:r>
              <a:rPr b="0" i="0" lang="pt-BR" sz="20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Se não houver fornecedores cadastrados, a solicitação não será realizada.</a:t>
            </a:r>
            <a:endParaRPr/>
          </a:p>
          <a:p>
            <a:pPr indent="-35560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bri"/>
              <a:buChar char="●"/>
            </a:pPr>
            <a:r>
              <a:rPr lang="pt-BR" sz="2000">
                <a:highlight>
                  <a:schemeClr val="lt1"/>
                </a:highlight>
              </a:rPr>
              <a:t>Atualiza a compra com as informações sobre a solicitação de produtos.</a:t>
            </a:r>
            <a:endParaRPr sz="2000">
              <a:highlight>
                <a:schemeClr val="lt1"/>
              </a:highlight>
            </a:endParaRPr>
          </a:p>
        </p:txBody>
      </p:sp>
      <p:pic>
        <p:nvPicPr>
          <p:cNvPr id="198" name="Google Shape;198;gc56d62285f_0_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6900250" cy="42724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c63a4fde34_0_3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204" name="Google Shape;204;gc63a4fde34_0_30"/>
          <p:cNvSpPr txBox="1"/>
          <p:nvPr/>
        </p:nvSpPr>
        <p:spPr>
          <a:xfrm>
            <a:off x="7205050" y="1690825"/>
            <a:ext cx="4114800" cy="3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Analisar orçamento dos produtos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Fornecedor envia orçamento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Analisar orçamento do pedido enviado e produtos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Trabalhadores </a:t>
            </a: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  <a:extLst>
                  <a:ext uri="http://customooxmlschemas.google.com/">
                    <go:slidesCustomData xmlns:go="http://customooxmlschemas.google.com/" textRoundtripDataId="5"/>
                  </a:ext>
                </a:extLst>
              </a:rPr>
              <a:t>Envolvidos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se há saldo disponível para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 a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compra dos produtos e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informa a confirmação ao fornecedor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1" marL="9144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○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Se não há saldo suficiente para compra de produtos, o orçamento, será recusado.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" name="Google Shape;205;gc63a4fde34_0_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6900250" cy="42724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d2b4982aba_0_66"/>
          <p:cNvSpPr txBox="1"/>
          <p:nvPr>
            <p:ph idx="1" type="body"/>
          </p:nvPr>
        </p:nvSpPr>
        <p:spPr>
          <a:xfrm>
            <a:off x="7205050" y="1767025"/>
            <a:ext cx="4624500" cy="258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Pagar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Gerente realiza pagamento dos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Pagar as mercadorias adquiridas ao fornecedor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Gerente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Retira do lançamento o valor necessário para pagamento dos produtos.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a compra com o status de “pago”.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211" name="Google Shape;211;gd2b4982aba_0_6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12" name="Google Shape;212;gd2b4982aba_0_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6900250" cy="42724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d2b4982aba_0_85"/>
          <p:cNvSpPr txBox="1"/>
          <p:nvPr>
            <p:ph idx="1" type="body"/>
          </p:nvPr>
        </p:nvSpPr>
        <p:spPr>
          <a:xfrm>
            <a:off x="7205050" y="1767025"/>
            <a:ext cx="4334100" cy="353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/>
              <a:t>Pr</a:t>
            </a:r>
            <a:r>
              <a:rPr b="1" lang="pt-BR" sz="2000">
                <a:highlight>
                  <a:schemeClr val="lt1"/>
                </a:highlight>
              </a:rPr>
              <a:t>ocesso</a:t>
            </a:r>
            <a:r>
              <a:rPr lang="pt-BR" sz="2000">
                <a:highlight>
                  <a:schemeClr val="lt1"/>
                </a:highlight>
              </a:rPr>
              <a:t>: Receber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Fornecedor envia comprovante de pagamento, nota fiscal e os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</a:t>
            </a:r>
            <a:r>
              <a:rPr lang="pt-BR" sz="2000">
                <a:highlight>
                  <a:schemeClr val="lt1"/>
                </a:highlight>
              </a:rPr>
              <a:t>Receber os produtos adquiridos do fornecedor.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Gerente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o comprovante de pagamento e nota fiscal em via de operação.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os produtos novos adquiridos em produto de venda.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a compra com o status para “recebido”.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218" name="Google Shape;218;gd2b4982aba_0_8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 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19" name="Google Shape;219;gd2b4982aba_0_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6900250" cy="42724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cce74347ab_0_29"/>
          <p:cNvSpPr txBox="1"/>
          <p:nvPr>
            <p:ph type="title"/>
          </p:nvPr>
        </p:nvSpPr>
        <p:spPr>
          <a:xfrm>
            <a:off x="838200" y="365125"/>
            <a:ext cx="107742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226" name="Google Shape;226;gcce74347ab_0_29"/>
          <p:cNvSpPr txBox="1"/>
          <p:nvPr/>
        </p:nvSpPr>
        <p:spPr>
          <a:xfrm>
            <a:off x="8624525" y="1062300"/>
            <a:ext cx="3500400" cy="425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Solicitar serviço</a:t>
            </a:r>
            <a:endParaRPr/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solicita serviço de manutenção e envia p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roduto</a:t>
            </a:r>
            <a:endParaRPr/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Terceirizar o suporte que não pode ser atendido pela GamaWare</a:t>
            </a:r>
            <a:endParaRPr/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/>
          </a:p>
          <a:p>
            <a:pPr indent="-219075" lvl="0" marL="360000" marR="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se há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terceiros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para realizar a manutenção.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1" marL="9144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○"/>
            </a:pPr>
            <a:r>
              <a:rPr b="0" i="0" lang="pt-BR" sz="2000" u="none" cap="none" strike="noStrike">
                <a:solidFill>
                  <a:srgbClr val="000000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Se não houver </a:t>
            </a:r>
            <a:r>
              <a:rPr lang="pt-BR" sz="2000"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terceiros</a:t>
            </a:r>
            <a:r>
              <a:rPr b="0" i="0" lang="pt-BR" sz="2000" u="none" cap="none" strike="noStrike">
                <a:solidFill>
                  <a:srgbClr val="000000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 cadastrados, a solicitação não será realizada.</a:t>
            </a:r>
            <a:endParaRPr b="0" i="0" sz="2000" u="none" cap="none" strike="noStrike">
              <a:solidFill>
                <a:srgbClr val="000000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53150" lvl="0" marL="4500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pt-BR" sz="2000"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Envia o produto para o terceiro.</a:t>
            </a:r>
            <a:endParaRPr sz="2000"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7" name="Google Shape;227;gcce74347ab_0_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375" y="1732750"/>
            <a:ext cx="8338774" cy="35343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d2b4982aba_0_115"/>
          <p:cNvSpPr txBox="1"/>
          <p:nvPr>
            <p:ph idx="1" type="body"/>
          </p:nvPr>
        </p:nvSpPr>
        <p:spPr>
          <a:xfrm>
            <a:off x="8396925" y="1711525"/>
            <a:ext cx="3663300" cy="469815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Analisar orçamento da manutenção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Terceiro envia orçamento e prazo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Verificar orçamento e prazo da manutenção.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Gerente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se há saldo em lançamento disponível para terceirizar a manutenção.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não há saldo suficiente para manutenção de produtos, o orçamento será recusado.</a:t>
            </a:r>
            <a:endParaRPr sz="2000">
              <a:highlight>
                <a:schemeClr val="lt1"/>
              </a:highlight>
            </a:endParaRPr>
          </a:p>
          <a:p>
            <a:pPr indent="-218440" lvl="0" marL="2286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Guarda as informações da manutenção solicitada em manutenção.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233" name="Google Shape;233;gd2b4982aba_0_11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34" name="Google Shape;234;gd2b4982aba_0_1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375" y="1732750"/>
            <a:ext cx="8338774" cy="35343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d2b4982aba_0_109"/>
          <p:cNvSpPr txBox="1"/>
          <p:nvPr>
            <p:ph idx="1" type="body"/>
          </p:nvPr>
        </p:nvSpPr>
        <p:spPr>
          <a:xfrm>
            <a:off x="8643575" y="1711525"/>
            <a:ext cx="3335100" cy="37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Receber produto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Terceiro envia produto manutenido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</a:t>
            </a:r>
            <a:r>
              <a:rPr lang="pt-BR" sz="2000">
                <a:highlight>
                  <a:schemeClr val="lt1"/>
                </a:highlight>
              </a:rPr>
              <a:t>Analisar o produto recebido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Gerente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o produto em produto de manutenção.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o status da manutenção para “finalizado”.</a:t>
            </a:r>
            <a:endParaRPr sz="1800">
              <a:highlight>
                <a:schemeClr val="lt1"/>
              </a:highlight>
            </a:endParaRPr>
          </a:p>
        </p:txBody>
      </p:sp>
      <p:sp>
        <p:nvSpPr>
          <p:cNvPr id="240" name="Google Shape;240;gd2b4982aba_0_109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41" name="Google Shape;241;gd2b4982aba_0_10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375" y="1732750"/>
            <a:ext cx="8338774" cy="35343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cce74347ab_0_1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/>
          </a:p>
        </p:txBody>
      </p:sp>
      <p:sp>
        <p:nvSpPr>
          <p:cNvPr id="248" name="Google Shape;248;gcce74347ab_0_17"/>
          <p:cNvSpPr txBox="1"/>
          <p:nvPr/>
        </p:nvSpPr>
        <p:spPr>
          <a:xfrm>
            <a:off x="8643575" y="1711525"/>
            <a:ext cx="3497100" cy="48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rocesso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Realizar pagamento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 realiza pagamento da manutenção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Realizar o pagamento da manutenção ao terceiro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 valor final da manutenção realizada pelo terceiro.</a:t>
            </a:r>
            <a:endParaRPr/>
          </a:p>
          <a:p>
            <a:pPr indent="-355600" lvl="1" marL="9144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○"/>
            </a:pPr>
            <a:r>
              <a:rPr b="0" i="0" lang="pt-BR" sz="20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Se não houver manutenção solicitada, o pagamento não é realizado.</a:t>
            </a:r>
            <a:endParaRPr/>
          </a:p>
          <a:p>
            <a:pPr indent="-228600" lvl="0" marL="45720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Retira do lançamento o valor necessário para pagamento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 e r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ealiza pagamento.</a:t>
            </a:r>
            <a:endParaRPr b="0" i="0" sz="2000" u="none" cap="none" strike="noStrike">
              <a:solidFill>
                <a:srgbClr val="000000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9" name="Google Shape;249;gcce74347ab_0_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375" y="1732750"/>
            <a:ext cx="8338774" cy="35343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c63a4fde34_0_3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Capacidade: </a:t>
            </a:r>
            <a:r>
              <a:rPr b="1" lang="pt-BR"/>
              <a:t>Terceirizar Manutenção de Produtos				</a:t>
            </a:r>
            <a:endParaRPr b="1"/>
          </a:p>
        </p:txBody>
      </p:sp>
      <p:sp>
        <p:nvSpPr>
          <p:cNvPr id="256" name="Google Shape;256;gc63a4fde34_0_36"/>
          <p:cNvSpPr txBox="1"/>
          <p:nvPr/>
        </p:nvSpPr>
        <p:spPr>
          <a:xfrm>
            <a:off x="8643575" y="1682825"/>
            <a:ext cx="3347400" cy="341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</a:t>
            </a: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ocesso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Receber comprovante de pagamento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Terceiro envia comprovante de pagamento e nota fiscal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Receber comprovante de pagamento e nota fiscal dos produtos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Recebe o comprovante de pagamento e nota fiscal do terceiro e guarda em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manutenção.</a:t>
            </a:r>
            <a:endParaRPr b="1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7" name="Google Shape;257;gc63a4fde34_0_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375" y="1732750"/>
            <a:ext cx="8338774" cy="35343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2019-12-11T13:11:31Z</dcterms:created>
  <dc:creator>Osvaldo Takai</dc:creator>
</cp:coreProperties>
</file>